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73152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ForecastBI</a:t>
            </a:r>
          </a:p>
          <a:p>
            <a:pPr>
              <a:spcBef>
                <a:spcPts val="800"/>
              </a:spcBef>
              <a:defRPr sz="2000">
                <a:solidFill>
                  <a:srgbClr val="93C5FD"/>
                </a:solidFill>
                <a:latin typeface="Segoe UI"/>
              </a:defRPr>
            </a:pPr>
            <a:r>
              <a:t>Pakistan Commodity Price Intelligence &amp; Forecasting Platform</a:t>
            </a:r>
          </a:p>
          <a:p>
            <a:pPr>
              <a:spcBef>
                <a:spcPts val="1800"/>
              </a:spcBef>
              <a:defRPr sz="1300">
                <a:solidFill>
                  <a:srgbClr val="CBD5E1"/>
                </a:solidFill>
                <a:latin typeface="Segoe UI"/>
              </a:defRPr>
            </a:pPr>
            <a:r>
              <a:t>End-to-End Data Pipeline • Machine Learning Benchmark • Power BI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5-Year Monthly Historicals (PBS)  |  17 Commercial Cities  |  Prophet vs. XGBoost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Core Mission &amp; Market Scope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Addressing food security and price volatility across Pakistan's agricultural markets.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Agricultural Context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Food inflation in Pakistan directly dictates household welfare. Rapid, unpredicted price swings in dietary essentials disproportionately impact lower- and middle-income families.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7 Target Commodities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3 High-Volatility Perishables:</a:t>
            </a:r>
            <a:br/>
            <a:r>
              <a:t>• Tomatoes, Onions, Potatoes</a:t>
            </a:r>
            <a:br/>
            <a:r>
              <a:t>4 Protein-Rich Pulses:</a:t>
            </a:r>
            <a:br/>
            <a:r>
              <a:t>• Moong, Masoor, Gram, Mash (Washed)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Segoe UI"/>
              </a:defRPr>
            </a:pPr>
            <a:r>
              <a:t>National Spatial Scope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5+ years of standardized monthly retail prices covering 17 major cities across all provinces:</a:t>
            </a:r>
            <a:br/>
            <a:r>
              <a:t>• Islamabad, Lahore, Karachi, Quetta, Peshawar, Multan, Faisalabad,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Challenge of Food Price Volatility in Pakistan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Why traditional reporting fails to protect markets and consumers from price shocks.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Segoe UI"/>
              </a:defRPr>
            </a:pPr>
            <a:r>
              <a:t>Extreme Price Shocks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Vegetables experience severe non-linear spikes:</a:t>
            </a:r>
            <a:br/>
            <a:r>
              <a:t>• Tomatoes peaked at +174% in a single month and collapsed by -51%.</a:t>
            </a:r>
            <a:br/>
            <a:r>
              <a:t>• Perishable lifespans and seasonal gluts prevent smooth market self-correction.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Static &amp; Fragmented Data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Official statistics from the Pakistan Bureau of Statistics (PBS) exist in isolated bulletins:</a:t>
            </a:r>
            <a:br/>
            <a:r>
              <a:t>• Disconnected Excel sheets and read-only PDFs.</a:t>
            </a:r>
            <a:br/>
            <a:r>
              <a:t>• Heavy format inconsistencies and missing reports hinder automated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Segoe UI"/>
              </a:defRPr>
            </a:pPr>
            <a:r>
              <a:t>Reactive Decision-Making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Segoe UI"/>
              </a:defRPr>
            </a:pPr>
            <a:r>
              <a:t>Absence of predictive intelligence:</a:t>
            </a:r>
            <a:br/>
            <a:r>
              <a:t>• Wholesalers and supply chain coordinators react retrospectively to shortages.</a:t>
            </a:r>
            <a:br/>
            <a:r>
              <a:t>• Policymakers lack forward-looking visibility to plan import quotas and strategic reserves.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ForecastBI: An End-to-End Intelligence Platform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Transforming disparate government publications into actionable predictive analytics.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Automated Data Pipeline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Robust automated ingestion that extracts, compiles, cleans, and standardizes 5+ years of PBS CPI monthly bulletins across all 17 cities without manual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Segoe UI"/>
              </a:defRPr>
            </a:pPr>
            <a:r>
              <a:t>Dual ML Forecasting Engine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Harnesses both Facebook Prophet (for long-term Fourier seasonal harmonics) and XGBoost (for multi-step autoregressive inertia) with dynamic model selection.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Segoe UI"/>
              </a:defRPr>
            </a:pPr>
            <a:r>
              <a:t>12-Month Projections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Forward-looking forecasts with historical price floors to guarantee realistic, non-negative bounds for agricultural planning and budget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Interactive Power BI Suite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Executive dark-themed dashboards delivering transparent model accuracy audits, city price hierarchy spreads, and interactive commodity trend drill-downs.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TECHNICAL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 Engineering &amp; Modeling Methodology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A rigorous multi-tiered framework designed for small-sample time series.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1. Data Standardization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Mapped 51 standardized PBS items across 17 cities; cleaned commas, headers, and missing city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109728" cy="960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2. Feature Engineering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Engineered autoregressive lags (1, 2, 3, 6, 12), rolling statistics (3/6-mo means/stds), and cyclical sin/cos transforms.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109728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3. Model Benchmarking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Tested Facebook Prophet vs. Recursive XGBoost on a 6-month holdout test window (35 months train / 6 test).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074920"/>
            <a:ext cx="10972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4. Dynamic Model Selection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Assigned each commodity to its empirically proven winner (e.g. Prophet for Potatoes; XGBoost for Pulses &amp; Tomatoes).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PROBLEMS FACED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Overcoming Real-World Data Scraping Roadblocks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Navigating dynamic web architecture and messy governmental publications.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Dynamic JavaScript Payload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PROBLEM: Standard HTML scrapers failed because table links were injected via client-side JavaScript (const cpidata1).</a:t>
            </a:r>
            <a:br/>
            <a:br/>
            <a:r>
              <a:t>SOLUTION: Extracted raw script strings using regular expressions and parsed them with chompjs in &lt;2s without Selenium.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Segoe UI"/>
              </a:defRPr>
            </a:pPr>
            <a:r>
              <a:t>Hybrid Document Formats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PROBLEM: Publications were inconsistent—some months were modern XLSX, older were XLS, and several were strictly formatted PDFs.</a:t>
            </a:r>
            <a:br/>
            <a:br/>
            <a:r>
              <a:t>SOLUTION: Built a dual-engine parser using openpyxl for Excel and pypdf with regex tokenizers for line-by-line PDF table extraction.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Segoe UI"/>
              </a:defRPr>
            </a:pPr>
            <a:r>
              <a:t>Data Gaps &amp; Discontinuities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PROBLEM: Missing month links ('None'), broken URLs, and blank national average cells in raw reports.</a:t>
            </a:r>
            <a:br/>
            <a:br/>
            <a:r>
              <a:t>SOLUTION: Implemented missing_months.txt audit logging and automated fallback arithmetic averaging across valid city prices.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Power BI Intelligence Dashboards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A 3-tier interactive analytics platform configured with executive dark styling.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Page 1: Executive Overview &amp; KPIs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Key Metrics: Latest Actual Price, 12-Month Best Model Forecast, YoY Inflation Rate %.</a:t>
            </a:r>
            <a:br/>
            <a:r>
              <a:t>• Provenance Tracking: Dynamically surfaces winning model name and volatility tier per item.</a:t>
            </a:r>
            <a:br/>
            <a:r>
              <a:t>• Executive Slicers: Filter by commodity (e.g. Onions showing +81.9% YoY surge).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109728" cy="1325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6440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Page 2: 12-Month Price Trend &amp; Forecast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Single Unified Visual: Built on pbi_combined_timeline.csv connecting history to future.</a:t>
            </a:r>
            <a:br/>
            <a:r>
              <a:t>• Actual Curve (Blue): Traces historical price cycles from 2023 through 2026.</a:t>
            </a:r>
            <a:br/>
            <a:r>
              <a:t>• Forecast Curve (Orange): Out-of-sample projection into 2027 capturing seasonal rebounds.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09728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7316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Page 3: Model Accuracy &amp; City Intelligence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• Model Audit: Grouped bar chart displaying Prophet vs. XGBoost accuracy % (100 - MAPE).</a:t>
            </a:r>
            <a:br/>
            <a:r>
              <a:t>• 17-City Price Hierarchy: Highlights high-cost transit centers (Islamabad ~Rs 280, Quetta) vs. low-cost local harvest centers (Bannu, Hyderabad).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EMPIRICAL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Model Accuracy &amp; The 'Potato Anomaly'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Why model benchmarking and dynamic routing are essential in agricultural commodities.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Model Accuracy Benchmark (100 - MAPE %)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Consolas"/>
              </a:defRPr>
            </a:pPr>
            <a:r>
              <a:t>• Pulse Moong (Washed):   XGBoost 98%  |  Prophet 94%</a:t>
            </a:r>
            <a:br/>
            <a:r>
              <a:t>• Pulse Mash (Washed):    XGBoost 94%  |  Prophet 79%</a:t>
            </a:r>
            <a:br/>
            <a:r>
              <a:t>• Pulse Masoor (Washed):  XGBoost 93%  |  Prophet 91%</a:t>
            </a:r>
            <a:br/>
            <a:r>
              <a:t>• Pulse Gram:             Prophet 90%  |  XGBoost 90%</a:t>
            </a:r>
            <a:br/>
            <a:r>
              <a:t>• Tomatoes:               XGBoost 80%  |  Prophet 52%</a:t>
            </a:r>
            <a:br/>
            <a:r>
              <a:t>• Onions:                 XGBoost 71%  |  Prophet 42%</a:t>
            </a:r>
            <a:br/>
            <a:r>
              <a:t>• Potatoes:               Prophet 69%  |  XGBoost -28%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Segoe UI"/>
              </a:defRPr>
            </a:pPr>
            <a:r>
              <a:t>Key Insight: The Potato Anomaly (-28%)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Why did XGBoost fail while Prophet succeeded on Potatoes?</a:t>
            </a:r>
            <a:br/>
            <a:br/>
            <a:r>
              <a:t>• Recursive Compounding (XGBoost):</a:t>
            </a:r>
            <a:br/>
            <a:r>
              <a:t>During a dramatic post-harvest price collapse (Rs 115 down to Rs 31), XGBoost's recursive predictions compounded errors, overestimating the trough and producing a 127.9% MAPE (-28% accuracy).</a:t>
            </a:r>
            <a:br/>
            <a:br/>
            <a:r>
              <a:t>• Fourier Trigonometric Waves (Prophet):</a:t>
            </a:r>
            <a:br/>
            <a:r>
              <a:t>Prophet's continuous sinusoidal curves naturally respected the harvest cycle, scoring 69% accuracy.</a:t>
            </a:r>
            <a:br/>
            <a:br/>
            <a:r>
              <a:t>Takeaway: Dynamic model routing is mandatory—no single algorithm fits all commodity behaviors.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Strategic Impact</a:t>
            </a:r>
          </a:p>
          <a:p>
            <a:pPr>
              <a:spcBef>
                <a:spcPts val="400"/>
              </a:spcBef>
              <a:defRPr sz="1200">
                <a:solidFill>
                  <a:srgbClr val="93C5FD"/>
                </a:solidFill>
                <a:latin typeface="Segoe UI"/>
              </a:defRPr>
            </a:pPr>
            <a:r>
              <a:t>Transitioning Pakistan's commodity management from retrospective reporting to proactive intelligence.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Operational Value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Provides supply chain coordinators, distributors, and policymakers with up to 12 months of forward visibility on price peaks and post-harvest troughs.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0312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Segoe UI"/>
              </a:defRPr>
            </a:pPr>
            <a:r>
              <a:t>Procurement Optimization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Enables commercial buyers to anticipate market shifts, hedge agricultural purchases, and optimize regional logistics across 17 commercial hubs.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38328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Segoe UI"/>
              </a:defRPr>
            </a:pPr>
            <a:r>
              <a:t>Future Roadmap</a:t>
            </a:r>
          </a:p>
          <a:p>
            <a:pPr>
              <a:spcBef>
                <a:spcPts val="12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• Integration of satellite rainfall/weather data.</a:t>
            </a:r>
            <a:br/>
            <a:r>
              <a:t>• Diesel &amp; transportation cost indices.</a:t>
            </a:r>
            <a:br/>
            <a:r>
              <a:t>• Expansion to high-frequency weekly SPI indicators.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