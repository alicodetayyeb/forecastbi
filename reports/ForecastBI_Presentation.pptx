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0"/>
            <a:ext cx="22860" cy="6858000"/>
          </a:xfrm>
          <a:prstGeom prst="rect">
            <a:avLst/>
          </a:prstGeom>
          <a:solidFill>
            <a:srgbClr val="1E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789920" cy="3200400"/>
          </a:xfrm>
          <a:prstGeom prst="rect">
            <a:avLst/>
          </a:prstGeom>
          <a:noFill/>
        </p:spPr>
        <p:txBody>
          <a:bodyPr wrap="square">
            <a:spAutoFit/>
          </a:bodyPr>
          <a:lstStyle/>
          <a:p>
            <a:pPr algn="l">
              <a:spcBef>
                <a:spcPts val="0"/>
              </a:spcBef>
            </a:pPr>
            <a:r>
              <a:rPr sz="4000" b="1" i="0">
                <a:solidFill>
                  <a:srgbClr val="FFFFFF"/>
                </a:solidFill>
                <a:latin typeface="Segoe UI"/>
              </a:rPr>
              <a:t>ForecastBI</a:t>
            </a:r>
          </a:p>
          <a:p>
            <a:pPr algn="l">
              <a:spcBef>
                <a:spcPts val="1000"/>
              </a:spcBef>
            </a:pPr>
            <a:r>
              <a:rPr sz="1800" b="0" i="0">
                <a:solidFill>
                  <a:srgbClr val="38B6FF"/>
                </a:solidFill>
                <a:latin typeface="Segoe UI"/>
              </a:rPr>
              <a:t>Pakistan Commodity Price Intelligence &amp; Forecasting</a:t>
            </a:r>
          </a:p>
          <a:p>
            <a:pPr algn="l">
              <a:spcBef>
                <a:spcPts val="0"/>
              </a:spcBef>
            </a:pPr>
            <a:r>
              <a:rPr sz="800" b="0" i="0">
                <a:solidFill>
                  <a:srgbClr val="FFFFFF"/>
                </a:solidFill>
                <a:latin typeface="Segoe UI"/>
              </a:rPr>
              <a:t/>
            </a:r>
          </a:p>
          <a:p>
            <a:pPr algn="l">
              <a:spcBef>
                <a:spcPts val="0"/>
              </a:spcBef>
            </a:pPr>
            <a:r>
              <a:rPr sz="1100" b="0" i="0">
                <a:solidFill>
                  <a:srgbClr val="94A3B8"/>
                </a:solidFill>
                <a:latin typeface="Segoe UI"/>
              </a:rPr>
              <a:t>End-to-End ML Pipeline  ·  Prophet vs. XGBoost  ·  Power BI Analytics</a:t>
            </a:r>
          </a:p>
        </p:txBody>
      </p:sp>
      <p:sp>
        <p:nvSpPr>
          <p:cNvPr id="5" name="Rectangle 4"/>
          <p:cNvSpPr/>
          <p:nvPr/>
        </p:nvSpPr>
        <p:spPr>
          <a:xfrm>
            <a:off x="274320" y="5989320"/>
            <a:ext cx="11914632" cy="868680"/>
          </a:xfrm>
          <a:prstGeom prst="rect">
            <a:avLst/>
          </a:prstGeom>
          <a:solidFill>
            <a:srgbClr val="12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6080760"/>
            <a:ext cx="2011680" cy="411480"/>
          </a:xfrm>
          <a:prstGeom prst="rect">
            <a:avLst/>
          </a:prstGeom>
          <a:noFill/>
        </p:spPr>
        <p:txBody>
          <a:bodyPr wrap="square">
            <a:spAutoFit/>
          </a:bodyPr>
          <a:lstStyle/>
          <a:p>
            <a:pPr algn="ctr">
              <a:spcBef>
                <a:spcPts val="0"/>
              </a:spcBef>
            </a:pPr>
            <a:r>
              <a:rPr sz="1150" b="1" i="0">
                <a:solidFill>
                  <a:srgbClr val="38B6FF"/>
                </a:solidFill>
                <a:latin typeface="Segoe UI"/>
              </a:rPr>
              <a:t>5 Years of Data</a:t>
            </a:r>
          </a:p>
        </p:txBody>
      </p:sp>
      <p:sp>
        <p:nvSpPr>
          <p:cNvPr id="7" name="TextBox 6"/>
          <p:cNvSpPr txBox="1"/>
          <p:nvPr/>
        </p:nvSpPr>
        <p:spPr>
          <a:xfrm>
            <a:off x="3657600" y="6080760"/>
            <a:ext cx="2011680" cy="411480"/>
          </a:xfrm>
          <a:prstGeom prst="rect">
            <a:avLst/>
          </a:prstGeom>
          <a:noFill/>
        </p:spPr>
        <p:txBody>
          <a:bodyPr wrap="square">
            <a:spAutoFit/>
          </a:bodyPr>
          <a:lstStyle/>
          <a:p>
            <a:pPr algn="ctr">
              <a:spcBef>
                <a:spcPts val="0"/>
              </a:spcBef>
            </a:pPr>
            <a:r>
              <a:rPr sz="1150" b="1" i="0">
                <a:solidFill>
                  <a:srgbClr val="38B6FF"/>
                </a:solidFill>
                <a:latin typeface="Segoe UI"/>
              </a:rPr>
              <a:t>7 Commodities</a:t>
            </a:r>
          </a:p>
        </p:txBody>
      </p:sp>
      <p:sp>
        <p:nvSpPr>
          <p:cNvPr id="8" name="TextBox 7"/>
          <p:cNvSpPr txBox="1"/>
          <p:nvPr/>
        </p:nvSpPr>
        <p:spPr>
          <a:xfrm>
            <a:off x="6400800" y="6080760"/>
            <a:ext cx="2011680" cy="411480"/>
          </a:xfrm>
          <a:prstGeom prst="rect">
            <a:avLst/>
          </a:prstGeom>
          <a:noFill/>
        </p:spPr>
        <p:txBody>
          <a:bodyPr wrap="square">
            <a:spAutoFit/>
          </a:bodyPr>
          <a:lstStyle/>
          <a:p>
            <a:pPr algn="ctr">
              <a:spcBef>
                <a:spcPts val="0"/>
              </a:spcBef>
            </a:pPr>
            <a:r>
              <a:rPr sz="1150" b="1" i="0">
                <a:solidFill>
                  <a:srgbClr val="38B6FF"/>
                </a:solidFill>
                <a:latin typeface="Segoe UI"/>
              </a:rPr>
              <a:t>17 Cities</a:t>
            </a:r>
          </a:p>
        </p:txBody>
      </p:sp>
      <p:sp>
        <p:nvSpPr>
          <p:cNvPr id="9" name="TextBox 8"/>
          <p:cNvSpPr txBox="1"/>
          <p:nvPr/>
        </p:nvSpPr>
        <p:spPr>
          <a:xfrm>
            <a:off x="9144000" y="6080760"/>
            <a:ext cx="2011680" cy="411480"/>
          </a:xfrm>
          <a:prstGeom prst="rect">
            <a:avLst/>
          </a:prstGeom>
          <a:noFill/>
        </p:spPr>
        <p:txBody>
          <a:bodyPr wrap="square">
            <a:spAutoFit/>
          </a:bodyPr>
          <a:lstStyle/>
          <a:p>
            <a:pPr algn="ctr">
              <a:spcBef>
                <a:spcPts val="0"/>
              </a:spcBef>
            </a:pPr>
            <a:r>
              <a:rPr sz="1150" b="1" i="0">
                <a:solidFill>
                  <a:srgbClr val="38B6FF"/>
                </a:solidFill>
                <a:latin typeface="Segoe UI"/>
              </a:rPr>
              <a:t>2 ML Models</a:t>
            </a:r>
          </a:p>
        </p:txBody>
      </p:sp>
      <p:sp>
        <p:nvSpPr>
          <p:cNvPr id="10" name="Rectangle 9"/>
          <p:cNvSpPr/>
          <p:nvPr/>
        </p:nvSpPr>
        <p:spPr>
          <a:xfrm>
            <a:off x="274320" y="5971032"/>
            <a:ext cx="11914632" cy="228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02920" y="1325880"/>
            <a:ext cx="11183112"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38328"/>
            <a:ext cx="10972800" cy="228600"/>
          </a:xfrm>
          <a:prstGeom prst="rect">
            <a:avLst/>
          </a:prstGeom>
          <a:noFill/>
        </p:spPr>
        <p:txBody>
          <a:bodyPr wrap="square">
            <a:spAutoFit/>
          </a:bodyPr>
          <a:lstStyle/>
          <a:p>
            <a:pPr algn="l">
              <a:spcBef>
                <a:spcPts val="0"/>
              </a:spcBef>
            </a:pPr>
            <a:r>
              <a:rPr sz="850" b="1" i="0">
                <a:solidFill>
                  <a:srgbClr val="2563EB"/>
                </a:solidFill>
                <a:latin typeface="Segoe UI"/>
              </a:rPr>
              <a:t>INTRODUCTION</a:t>
            </a:r>
          </a:p>
        </p:txBody>
      </p:sp>
      <p:sp>
        <p:nvSpPr>
          <p:cNvPr id="4" name="TextBox 3"/>
          <p:cNvSpPr txBox="1"/>
          <p:nvPr/>
        </p:nvSpPr>
        <p:spPr>
          <a:xfrm>
            <a:off x="502920" y="502920"/>
            <a:ext cx="11155680" cy="475488"/>
          </a:xfrm>
          <a:prstGeom prst="rect">
            <a:avLst/>
          </a:prstGeom>
          <a:noFill/>
        </p:spPr>
        <p:txBody>
          <a:bodyPr wrap="square">
            <a:spAutoFit/>
          </a:bodyPr>
          <a:lstStyle/>
          <a:p>
            <a:pPr algn="l">
              <a:spcBef>
                <a:spcPts val="0"/>
              </a:spcBef>
            </a:pPr>
            <a:r>
              <a:rPr sz="2200" b="1" i="0">
                <a:solidFill>
                  <a:srgbClr val="0F172A"/>
                </a:solidFill>
                <a:latin typeface="Segoe UI"/>
              </a:rPr>
              <a:t>What Is ForecastBI?</a:t>
            </a:r>
          </a:p>
        </p:txBody>
      </p:sp>
      <p:sp>
        <p:nvSpPr>
          <p:cNvPr id="5" name="TextBox 4"/>
          <p:cNvSpPr txBox="1"/>
          <p:nvPr/>
        </p:nvSpPr>
        <p:spPr>
          <a:xfrm>
            <a:off x="502920" y="960120"/>
            <a:ext cx="11155680" cy="320040"/>
          </a:xfrm>
          <a:prstGeom prst="rect">
            <a:avLst/>
          </a:prstGeom>
          <a:noFill/>
        </p:spPr>
        <p:txBody>
          <a:bodyPr wrap="square">
            <a:spAutoFit/>
          </a:bodyPr>
          <a:lstStyle/>
          <a:p>
            <a:pPr algn="l">
              <a:spcBef>
                <a:spcPts val="0"/>
              </a:spcBef>
            </a:pPr>
            <a:r>
              <a:rPr sz="1100" b="0" i="0">
                <a:solidFill>
                  <a:srgbClr val="475569"/>
                </a:solidFill>
                <a:latin typeface="Segoe UI"/>
              </a:rPr>
              <a:t>An automated price-intelligence platform built on Pakistan Bureau of Statistics (PBS) data.</a:t>
            </a:r>
          </a:p>
        </p:txBody>
      </p:sp>
      <p:sp>
        <p:nvSpPr>
          <p:cNvPr id="6" name="Rounded Rectangle 5"/>
          <p:cNvSpPr/>
          <p:nvPr/>
        </p:nvSpPr>
        <p:spPr>
          <a:xfrm>
            <a:off x="530352" y="1499616"/>
            <a:ext cx="3566160" cy="5120640"/>
          </a:xfrm>
          <a:prstGeom prst="round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463040"/>
            <a:ext cx="3566160" cy="512064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3566160"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72768"/>
            <a:ext cx="3364991" cy="292608"/>
          </a:xfrm>
          <a:prstGeom prst="rect">
            <a:avLst/>
          </a:prstGeom>
          <a:noFill/>
        </p:spPr>
        <p:txBody>
          <a:bodyPr wrap="square">
            <a:spAutoFit/>
          </a:bodyPr>
          <a:lstStyle/>
          <a:p>
            <a:pPr algn="l">
              <a:spcBef>
                <a:spcPts val="0"/>
              </a:spcBef>
            </a:pPr>
            <a:r>
              <a:rPr sz="1250" b="1" i="0">
                <a:solidFill>
                  <a:srgbClr val="0F172A"/>
                </a:solidFill>
                <a:latin typeface="Segoe UI"/>
              </a:rPr>
              <a:t>The Context</a:t>
            </a:r>
          </a:p>
        </p:txBody>
      </p:sp>
      <p:sp>
        <p:nvSpPr>
          <p:cNvPr id="10" name="TextBox 9"/>
          <p:cNvSpPr txBox="1"/>
          <p:nvPr/>
        </p:nvSpPr>
        <p:spPr>
          <a:xfrm>
            <a:off x="658368" y="1883664"/>
            <a:ext cx="3364991" cy="4645152"/>
          </a:xfrm>
          <a:prstGeom prst="rect">
            <a:avLst/>
          </a:prstGeom>
          <a:noFill/>
        </p:spPr>
        <p:txBody>
          <a:bodyPr wrap="square">
            <a:spAutoFit/>
          </a:bodyPr>
          <a:lstStyle/>
          <a:p>
            <a:pPr algn="l">
              <a:spcBef>
                <a:spcPts val="0"/>
              </a:spcBef>
            </a:pPr>
            <a:r>
              <a:rPr sz="1050" b="0" i="0">
                <a:solidFill>
                  <a:srgbClr val="475569"/>
                </a:solidFill>
                <a:latin typeface="Segoe UI"/>
              </a:rPr>
              <a:t>Food price volatility directly impacts Pakistan's households, especially for perishables like Tomatoes, Onions, and Potatoes.
Pulses (Moong, Masoor, Gram, Mash) are core dietary protein sources. Any prolonged spike triggers nutritional insecurity.</a:t>
            </a:r>
          </a:p>
        </p:txBody>
      </p:sp>
      <p:sp>
        <p:nvSpPr>
          <p:cNvPr id="11" name="Rounded Rectangle 10"/>
          <p:cNvSpPr/>
          <p:nvPr/>
        </p:nvSpPr>
        <p:spPr>
          <a:xfrm>
            <a:off x="4297680" y="1499616"/>
            <a:ext cx="3566160" cy="5120640"/>
          </a:xfrm>
          <a:prstGeom prst="round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70248" y="1463040"/>
            <a:ext cx="3566160" cy="512064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70248" y="1463040"/>
            <a:ext cx="3566160" cy="5029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5696" y="1572768"/>
            <a:ext cx="3364991" cy="292608"/>
          </a:xfrm>
          <a:prstGeom prst="rect">
            <a:avLst/>
          </a:prstGeom>
          <a:noFill/>
        </p:spPr>
        <p:txBody>
          <a:bodyPr wrap="square">
            <a:spAutoFit/>
          </a:bodyPr>
          <a:lstStyle/>
          <a:p>
            <a:pPr algn="l">
              <a:spcBef>
                <a:spcPts val="0"/>
              </a:spcBef>
            </a:pPr>
            <a:r>
              <a:rPr sz="1250" b="1" i="0">
                <a:solidFill>
                  <a:srgbClr val="0F172A"/>
                </a:solidFill>
                <a:latin typeface="Segoe UI"/>
              </a:rPr>
              <a:t>The Objective</a:t>
            </a:r>
          </a:p>
        </p:txBody>
      </p:sp>
      <p:sp>
        <p:nvSpPr>
          <p:cNvPr id="15" name="TextBox 14"/>
          <p:cNvSpPr txBox="1"/>
          <p:nvPr/>
        </p:nvSpPr>
        <p:spPr>
          <a:xfrm>
            <a:off x="4425696" y="1883664"/>
            <a:ext cx="3364991" cy="4645152"/>
          </a:xfrm>
          <a:prstGeom prst="rect">
            <a:avLst/>
          </a:prstGeom>
          <a:noFill/>
        </p:spPr>
        <p:txBody>
          <a:bodyPr wrap="square">
            <a:spAutoFit/>
          </a:bodyPr>
          <a:lstStyle/>
          <a:p>
            <a:pPr algn="l">
              <a:spcBef>
                <a:spcPts val="0"/>
              </a:spcBef>
            </a:pPr>
            <a:r>
              <a:rPr sz="1050" b="0" i="0">
                <a:solidFill>
                  <a:srgbClr val="475569"/>
                </a:solidFill>
                <a:latin typeface="Segoe UI"/>
              </a:rPr>
              <a:t>Convert 5+ years of scattered PBS CPI monthly bulletins into a single predictive data asset.
Automatically forecast the next 12 months of retail prices per commodity across 17 commercial cities in Pakistan.</a:t>
            </a:r>
          </a:p>
        </p:txBody>
      </p:sp>
      <p:sp>
        <p:nvSpPr>
          <p:cNvPr id="16" name="Rounded Rectangle 15"/>
          <p:cNvSpPr/>
          <p:nvPr/>
        </p:nvSpPr>
        <p:spPr>
          <a:xfrm>
            <a:off x="8055863" y="1499616"/>
            <a:ext cx="3657600" cy="5120640"/>
          </a:xfrm>
          <a:prstGeom prst="round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28431" y="1463040"/>
            <a:ext cx="3657600" cy="512064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28431" y="1463040"/>
            <a:ext cx="3657600" cy="502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3879" y="1572768"/>
            <a:ext cx="3456432" cy="292608"/>
          </a:xfrm>
          <a:prstGeom prst="rect">
            <a:avLst/>
          </a:prstGeom>
          <a:noFill/>
        </p:spPr>
        <p:txBody>
          <a:bodyPr wrap="square">
            <a:spAutoFit/>
          </a:bodyPr>
          <a:lstStyle/>
          <a:p>
            <a:pPr algn="l">
              <a:spcBef>
                <a:spcPts val="0"/>
              </a:spcBef>
            </a:pPr>
            <a:r>
              <a:rPr sz="1250" b="1" i="0">
                <a:solidFill>
                  <a:srgbClr val="0F172A"/>
                </a:solidFill>
                <a:latin typeface="Segoe UI"/>
              </a:rPr>
              <a:t>Coverage</a:t>
            </a:r>
          </a:p>
        </p:txBody>
      </p:sp>
      <p:sp>
        <p:nvSpPr>
          <p:cNvPr id="20" name="TextBox 19"/>
          <p:cNvSpPr txBox="1"/>
          <p:nvPr/>
        </p:nvSpPr>
        <p:spPr>
          <a:xfrm>
            <a:off x="8183879" y="1883664"/>
            <a:ext cx="3456432" cy="4645152"/>
          </a:xfrm>
          <a:prstGeom prst="rect">
            <a:avLst/>
          </a:prstGeom>
          <a:noFill/>
        </p:spPr>
        <p:txBody>
          <a:bodyPr wrap="square">
            <a:spAutoFit/>
          </a:bodyPr>
          <a:lstStyle/>
          <a:p>
            <a:pPr algn="l">
              <a:spcBef>
                <a:spcPts val="0"/>
              </a:spcBef>
            </a:pPr>
            <a:r>
              <a:rPr sz="1050" b="0" i="0">
                <a:solidFill>
                  <a:srgbClr val="475569"/>
                </a:solidFill>
                <a:latin typeface="Segoe UI"/>
              </a:rPr>
              <a:t>7 Key Commodities: Tomatoes, Onions, Potatoes, Pulse Moong, Masoor, Gram, Mash.
17 Cities: Islamabad, Lahore, Karachi, Peshawar, Quetta, Multan, Faisalabad, Hyderabad &amp; 9 more.
41 months of validated historical records.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02920" y="1325880"/>
            <a:ext cx="11183112"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38328"/>
            <a:ext cx="10972800" cy="228600"/>
          </a:xfrm>
          <a:prstGeom prst="rect">
            <a:avLst/>
          </a:prstGeom>
          <a:noFill/>
        </p:spPr>
        <p:txBody>
          <a:bodyPr wrap="square">
            <a:spAutoFit/>
          </a:bodyPr>
          <a:lstStyle/>
          <a:p>
            <a:pPr algn="l">
              <a:spcBef>
                <a:spcPts val="0"/>
              </a:spcBef>
            </a:pPr>
            <a:r>
              <a:rPr sz="850" b="1" i="0">
                <a:solidFill>
                  <a:srgbClr val="2563EB"/>
                </a:solidFill>
                <a:latin typeface="Segoe UI"/>
              </a:rPr>
              <a:t>PROBLEM STATEMENT</a:t>
            </a:r>
          </a:p>
        </p:txBody>
      </p:sp>
      <p:sp>
        <p:nvSpPr>
          <p:cNvPr id="4" name="TextBox 3"/>
          <p:cNvSpPr txBox="1"/>
          <p:nvPr/>
        </p:nvSpPr>
        <p:spPr>
          <a:xfrm>
            <a:off x="502920" y="502920"/>
            <a:ext cx="11155680" cy="475488"/>
          </a:xfrm>
          <a:prstGeom prst="rect">
            <a:avLst/>
          </a:prstGeom>
          <a:noFill/>
        </p:spPr>
        <p:txBody>
          <a:bodyPr wrap="square">
            <a:spAutoFit/>
          </a:bodyPr>
          <a:lstStyle/>
          <a:p>
            <a:pPr algn="l">
              <a:spcBef>
                <a:spcPts val="0"/>
              </a:spcBef>
            </a:pPr>
            <a:r>
              <a:rPr sz="2200" b="1" i="0">
                <a:solidFill>
                  <a:srgbClr val="0F172A"/>
                </a:solidFill>
                <a:latin typeface="Segoe UI"/>
              </a:rPr>
              <a:t>Why This Problem Is Hard</a:t>
            </a:r>
          </a:p>
        </p:txBody>
      </p:sp>
      <p:sp>
        <p:nvSpPr>
          <p:cNvPr id="5" name="TextBox 4"/>
          <p:cNvSpPr txBox="1"/>
          <p:nvPr/>
        </p:nvSpPr>
        <p:spPr>
          <a:xfrm>
            <a:off x="502920" y="960120"/>
            <a:ext cx="11155680" cy="320040"/>
          </a:xfrm>
          <a:prstGeom prst="rect">
            <a:avLst/>
          </a:prstGeom>
          <a:noFill/>
        </p:spPr>
        <p:txBody>
          <a:bodyPr wrap="square">
            <a:spAutoFit/>
          </a:bodyPr>
          <a:lstStyle/>
          <a:p>
            <a:pPr algn="l">
              <a:spcBef>
                <a:spcPts val="0"/>
              </a:spcBef>
            </a:pPr>
            <a:r>
              <a:rPr sz="1100" b="0" i="0">
                <a:solidFill>
                  <a:srgbClr val="475569"/>
                </a:solidFill>
                <a:latin typeface="Segoe UI"/>
              </a:rPr>
              <a:t>Three compounding challenges that make commodity price intelligence non-trivial.</a:t>
            </a:r>
          </a:p>
        </p:txBody>
      </p:sp>
      <p:sp>
        <p:nvSpPr>
          <p:cNvPr id="6" name="Rounded Rectangle 5"/>
          <p:cNvSpPr/>
          <p:nvPr/>
        </p:nvSpPr>
        <p:spPr>
          <a:xfrm>
            <a:off x="530352" y="1499616"/>
            <a:ext cx="3566160" cy="5120640"/>
          </a:xfrm>
          <a:prstGeom prst="round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463040"/>
            <a:ext cx="3566160" cy="512064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3566160" cy="502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72768"/>
            <a:ext cx="3364991" cy="292608"/>
          </a:xfrm>
          <a:prstGeom prst="rect">
            <a:avLst/>
          </a:prstGeom>
          <a:noFill/>
        </p:spPr>
        <p:txBody>
          <a:bodyPr wrap="square">
            <a:spAutoFit/>
          </a:bodyPr>
          <a:lstStyle/>
          <a:p>
            <a:pPr algn="l">
              <a:spcBef>
                <a:spcPts val="0"/>
              </a:spcBef>
            </a:pPr>
            <a:r>
              <a:rPr sz="1250" b="1" i="0">
                <a:solidFill>
                  <a:srgbClr val="0F172A"/>
                </a:solidFill>
                <a:latin typeface="Segoe UI"/>
              </a:rPr>
              <a:t>Extreme Volatility</a:t>
            </a:r>
          </a:p>
        </p:txBody>
      </p:sp>
      <p:sp>
        <p:nvSpPr>
          <p:cNvPr id="10" name="TextBox 9"/>
          <p:cNvSpPr txBox="1"/>
          <p:nvPr/>
        </p:nvSpPr>
        <p:spPr>
          <a:xfrm>
            <a:off x="658368" y="1883664"/>
            <a:ext cx="3364991" cy="4645152"/>
          </a:xfrm>
          <a:prstGeom prst="rect">
            <a:avLst/>
          </a:prstGeom>
          <a:noFill/>
        </p:spPr>
        <p:txBody>
          <a:bodyPr wrap="square">
            <a:spAutoFit/>
          </a:bodyPr>
          <a:lstStyle/>
          <a:p>
            <a:pPr algn="l">
              <a:spcBef>
                <a:spcPts val="0"/>
              </a:spcBef>
            </a:pPr>
            <a:r>
              <a:rPr sz="1050" b="0" i="0">
                <a:solidFill>
                  <a:srgbClr val="475569"/>
                </a:solidFill>
                <a:latin typeface="Segoe UI"/>
              </a:rPr>
              <a:t>Tomatoes: single-month swing of +174% then -51%.
Potatoes follow a sinusoidal harvest cycle, crashing from Rs 115 to Rs 31/kg annually.
Standard regression models fail to capture these non-linear seasonal dynamics.</a:t>
            </a:r>
          </a:p>
        </p:txBody>
      </p:sp>
      <p:sp>
        <p:nvSpPr>
          <p:cNvPr id="11" name="Rounded Rectangle 10"/>
          <p:cNvSpPr/>
          <p:nvPr/>
        </p:nvSpPr>
        <p:spPr>
          <a:xfrm>
            <a:off x="4297680" y="1499616"/>
            <a:ext cx="3566160" cy="5120640"/>
          </a:xfrm>
          <a:prstGeom prst="round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70248" y="1463040"/>
            <a:ext cx="3566160" cy="512064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70248" y="1463040"/>
            <a:ext cx="3566160" cy="502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5696" y="1572768"/>
            <a:ext cx="3364991" cy="292608"/>
          </a:xfrm>
          <a:prstGeom prst="rect">
            <a:avLst/>
          </a:prstGeom>
          <a:noFill/>
        </p:spPr>
        <p:txBody>
          <a:bodyPr wrap="square">
            <a:spAutoFit/>
          </a:bodyPr>
          <a:lstStyle/>
          <a:p>
            <a:pPr algn="l">
              <a:spcBef>
                <a:spcPts val="0"/>
              </a:spcBef>
            </a:pPr>
            <a:r>
              <a:rPr sz="1250" b="1" i="0">
                <a:solidFill>
                  <a:srgbClr val="0F172A"/>
                </a:solidFill>
                <a:latin typeface="Segoe UI"/>
              </a:rPr>
              <a:t>Fragmented Data</a:t>
            </a:r>
          </a:p>
        </p:txBody>
      </p:sp>
      <p:sp>
        <p:nvSpPr>
          <p:cNvPr id="15" name="TextBox 14"/>
          <p:cNvSpPr txBox="1"/>
          <p:nvPr/>
        </p:nvSpPr>
        <p:spPr>
          <a:xfrm>
            <a:off x="4425696" y="1883664"/>
            <a:ext cx="3364991" cy="4645152"/>
          </a:xfrm>
          <a:prstGeom prst="rect">
            <a:avLst/>
          </a:prstGeom>
          <a:noFill/>
        </p:spPr>
        <p:txBody>
          <a:bodyPr wrap="square">
            <a:spAutoFit/>
          </a:bodyPr>
          <a:lstStyle/>
          <a:p>
            <a:pPr algn="l">
              <a:spcBef>
                <a:spcPts val="0"/>
              </a:spcBef>
            </a:pPr>
            <a:r>
              <a:rPr sz="1050" b="0" i="0">
                <a:solidFill>
                  <a:srgbClr val="475569"/>
                </a:solidFill>
                <a:latin typeface="Segoe UI"/>
              </a:rPr>
              <a:t>PBS publishes one Annexure per month across inconsistent formats: modern XLSX, legacy XLS, and read-only PDFs.
No unified API. Data must be scraped and parsed from a dynamic JavaScript-rendered government web portal.</a:t>
            </a:r>
          </a:p>
        </p:txBody>
      </p:sp>
      <p:sp>
        <p:nvSpPr>
          <p:cNvPr id="16" name="Rounded Rectangle 15"/>
          <p:cNvSpPr/>
          <p:nvPr/>
        </p:nvSpPr>
        <p:spPr>
          <a:xfrm>
            <a:off x="8055863" y="1499616"/>
            <a:ext cx="3657600" cy="5120640"/>
          </a:xfrm>
          <a:prstGeom prst="round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28431" y="1463040"/>
            <a:ext cx="3657600" cy="512064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28431" y="1463040"/>
            <a:ext cx="3657600"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3879" y="1572768"/>
            <a:ext cx="3456432" cy="292608"/>
          </a:xfrm>
          <a:prstGeom prst="rect">
            <a:avLst/>
          </a:prstGeom>
          <a:noFill/>
        </p:spPr>
        <p:txBody>
          <a:bodyPr wrap="square">
            <a:spAutoFit/>
          </a:bodyPr>
          <a:lstStyle/>
          <a:p>
            <a:pPr algn="l">
              <a:spcBef>
                <a:spcPts val="0"/>
              </a:spcBef>
            </a:pPr>
            <a:r>
              <a:rPr sz="1250" b="1" i="0">
                <a:solidFill>
                  <a:srgbClr val="0F172A"/>
                </a:solidFill>
                <a:latin typeface="Segoe UI"/>
              </a:rPr>
              <a:t>Reactive Decision-Making</a:t>
            </a:r>
          </a:p>
        </p:txBody>
      </p:sp>
      <p:sp>
        <p:nvSpPr>
          <p:cNvPr id="20" name="TextBox 19"/>
          <p:cNvSpPr txBox="1"/>
          <p:nvPr/>
        </p:nvSpPr>
        <p:spPr>
          <a:xfrm>
            <a:off x="8183879" y="1883664"/>
            <a:ext cx="3456432" cy="4645152"/>
          </a:xfrm>
          <a:prstGeom prst="rect">
            <a:avLst/>
          </a:prstGeom>
          <a:noFill/>
        </p:spPr>
        <p:txBody>
          <a:bodyPr wrap="square">
            <a:spAutoFit/>
          </a:bodyPr>
          <a:lstStyle/>
          <a:p>
            <a:pPr algn="l">
              <a:spcBef>
                <a:spcPts val="0"/>
              </a:spcBef>
            </a:pPr>
            <a:r>
              <a:rPr sz="1050" b="0" i="0">
                <a:solidFill>
                  <a:srgbClr val="475569"/>
                </a:solidFill>
                <a:latin typeface="Segoe UI"/>
              </a:rPr>
              <a:t>Procurement teams and government bodies have no forward visibility.
Import quotas, reserve releases, and consumer protection measures are decided after price shocks occur — never before.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02920" y="1325880"/>
            <a:ext cx="11183112"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38328"/>
            <a:ext cx="10972800" cy="228600"/>
          </a:xfrm>
          <a:prstGeom prst="rect">
            <a:avLst/>
          </a:prstGeom>
          <a:noFill/>
        </p:spPr>
        <p:txBody>
          <a:bodyPr wrap="square">
            <a:spAutoFit/>
          </a:bodyPr>
          <a:lstStyle/>
          <a:p>
            <a:pPr algn="l">
              <a:spcBef>
                <a:spcPts val="0"/>
              </a:spcBef>
            </a:pPr>
            <a:r>
              <a:rPr sz="850" b="1" i="0">
                <a:solidFill>
                  <a:srgbClr val="2563EB"/>
                </a:solidFill>
                <a:latin typeface="Segoe UI"/>
              </a:rPr>
              <a:t>SOLUTION</a:t>
            </a:r>
          </a:p>
        </p:txBody>
      </p:sp>
      <p:sp>
        <p:nvSpPr>
          <p:cNvPr id="4" name="TextBox 3"/>
          <p:cNvSpPr txBox="1"/>
          <p:nvPr/>
        </p:nvSpPr>
        <p:spPr>
          <a:xfrm>
            <a:off x="502920" y="502920"/>
            <a:ext cx="11155680" cy="475488"/>
          </a:xfrm>
          <a:prstGeom prst="rect">
            <a:avLst/>
          </a:prstGeom>
          <a:noFill/>
        </p:spPr>
        <p:txBody>
          <a:bodyPr wrap="square">
            <a:spAutoFit/>
          </a:bodyPr>
          <a:lstStyle/>
          <a:p>
            <a:pPr algn="l">
              <a:spcBef>
                <a:spcPts val="0"/>
              </a:spcBef>
            </a:pPr>
            <a:r>
              <a:rPr sz="2200" b="1" i="0">
                <a:solidFill>
                  <a:srgbClr val="0F172A"/>
                </a:solidFill>
                <a:latin typeface="Segoe UI"/>
              </a:rPr>
              <a:t>End-to-End Pipeline Architecture</a:t>
            </a:r>
          </a:p>
        </p:txBody>
      </p:sp>
      <p:sp>
        <p:nvSpPr>
          <p:cNvPr id="5" name="TextBox 4"/>
          <p:cNvSpPr txBox="1"/>
          <p:nvPr/>
        </p:nvSpPr>
        <p:spPr>
          <a:xfrm>
            <a:off x="502920" y="960120"/>
            <a:ext cx="11155680" cy="320040"/>
          </a:xfrm>
          <a:prstGeom prst="rect">
            <a:avLst/>
          </a:prstGeom>
          <a:noFill/>
        </p:spPr>
        <p:txBody>
          <a:bodyPr wrap="square">
            <a:spAutoFit/>
          </a:bodyPr>
          <a:lstStyle/>
          <a:p>
            <a:pPr algn="l">
              <a:spcBef>
                <a:spcPts val="0"/>
              </a:spcBef>
            </a:pPr>
            <a:r>
              <a:rPr sz="1100" b="0" i="0">
                <a:solidFill>
                  <a:srgbClr val="475569"/>
                </a:solidFill>
                <a:latin typeface="Segoe UI"/>
              </a:rPr>
              <a:t>Four sequential phases from raw government bulletin to interactive dashboard.</a:t>
            </a:r>
          </a:p>
        </p:txBody>
      </p:sp>
      <p:sp>
        <p:nvSpPr>
          <p:cNvPr id="6" name="Rounded Rectangle 5"/>
          <p:cNvSpPr/>
          <p:nvPr/>
        </p:nvSpPr>
        <p:spPr>
          <a:xfrm>
            <a:off x="502920" y="1463040"/>
            <a:ext cx="11183112" cy="749808"/>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1792" y="1581912"/>
            <a:ext cx="457200" cy="4572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581912"/>
            <a:ext cx="457200" cy="457200"/>
          </a:xfrm>
          <a:prstGeom prst="rect">
            <a:avLst/>
          </a:prstGeom>
          <a:noFill/>
        </p:spPr>
        <p:txBody>
          <a:bodyPr wrap="square">
            <a:spAutoFit/>
          </a:bodyPr>
          <a:lstStyle/>
          <a:p>
            <a:pPr algn="ctr">
              <a:spcBef>
                <a:spcPts val="0"/>
              </a:spcBef>
            </a:pPr>
            <a:r>
              <a:rPr sz="1400" b="1" i="0">
                <a:solidFill>
                  <a:srgbClr val="FFFFFF"/>
                </a:solidFill>
                <a:latin typeface="Segoe UI"/>
              </a:rPr>
              <a:t>1</a:t>
            </a:r>
          </a:p>
        </p:txBody>
      </p:sp>
      <p:sp>
        <p:nvSpPr>
          <p:cNvPr id="9" name="TextBox 8"/>
          <p:cNvSpPr txBox="1"/>
          <p:nvPr/>
        </p:nvSpPr>
        <p:spPr>
          <a:xfrm>
            <a:off x="1188720" y="1554480"/>
            <a:ext cx="2194560" cy="274320"/>
          </a:xfrm>
          <a:prstGeom prst="rect">
            <a:avLst/>
          </a:prstGeom>
          <a:noFill/>
        </p:spPr>
        <p:txBody>
          <a:bodyPr wrap="square">
            <a:spAutoFit/>
          </a:bodyPr>
          <a:lstStyle/>
          <a:p>
            <a:pPr algn="l">
              <a:spcBef>
                <a:spcPts val="0"/>
              </a:spcBef>
            </a:pPr>
            <a:r>
              <a:rPr sz="1200" b="1" i="0">
                <a:solidFill>
                  <a:srgbClr val="0F172A"/>
                </a:solidFill>
                <a:latin typeface="Segoe UI"/>
              </a:rPr>
              <a:t>Scrape &amp; Ingest</a:t>
            </a:r>
          </a:p>
        </p:txBody>
      </p:sp>
      <p:sp>
        <p:nvSpPr>
          <p:cNvPr id="10" name="TextBox 9"/>
          <p:cNvSpPr txBox="1"/>
          <p:nvPr/>
        </p:nvSpPr>
        <p:spPr>
          <a:xfrm>
            <a:off x="1188720" y="1828800"/>
            <a:ext cx="10058400" cy="274320"/>
          </a:xfrm>
          <a:prstGeom prst="rect">
            <a:avLst/>
          </a:prstGeom>
          <a:noFill/>
        </p:spPr>
        <p:txBody>
          <a:bodyPr wrap="square">
            <a:spAutoFit/>
          </a:bodyPr>
          <a:lstStyle/>
          <a:p>
            <a:pPr algn="l">
              <a:spcBef>
                <a:spcPts val="0"/>
              </a:spcBef>
            </a:pPr>
            <a:r>
              <a:rPr sz="1050" b="0" i="0">
                <a:solidFill>
                  <a:srgbClr val="475569"/>
                </a:solidFill>
                <a:latin typeface="Segoe UI"/>
              </a:rPr>
              <a:t>Headless regex extraction of JS-embedded PBS data (chompjs). Dual-engine parser handles XLSX, XLS, and PDF formats.</a:t>
            </a:r>
          </a:p>
        </p:txBody>
      </p:sp>
      <p:sp>
        <p:nvSpPr>
          <p:cNvPr id="11" name="Rounded Rectangle 10"/>
          <p:cNvSpPr/>
          <p:nvPr/>
        </p:nvSpPr>
        <p:spPr>
          <a:xfrm>
            <a:off x="502920" y="2423160"/>
            <a:ext cx="11183112" cy="749808"/>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 y="2542032"/>
            <a:ext cx="457200" cy="4572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542032"/>
            <a:ext cx="457200" cy="457200"/>
          </a:xfrm>
          <a:prstGeom prst="rect">
            <a:avLst/>
          </a:prstGeom>
          <a:noFill/>
        </p:spPr>
        <p:txBody>
          <a:bodyPr wrap="square">
            <a:spAutoFit/>
          </a:bodyPr>
          <a:lstStyle/>
          <a:p>
            <a:pPr algn="ctr">
              <a:spcBef>
                <a:spcPts val="0"/>
              </a:spcBef>
            </a:pPr>
            <a:r>
              <a:rPr sz="1400" b="1" i="0">
                <a:solidFill>
                  <a:srgbClr val="FFFFFF"/>
                </a:solidFill>
                <a:latin typeface="Segoe UI"/>
              </a:rPr>
              <a:t>2</a:t>
            </a:r>
          </a:p>
        </p:txBody>
      </p:sp>
      <p:sp>
        <p:nvSpPr>
          <p:cNvPr id="14" name="TextBox 13"/>
          <p:cNvSpPr txBox="1"/>
          <p:nvPr/>
        </p:nvSpPr>
        <p:spPr>
          <a:xfrm>
            <a:off x="1188720" y="2514600"/>
            <a:ext cx="2194560" cy="274320"/>
          </a:xfrm>
          <a:prstGeom prst="rect">
            <a:avLst/>
          </a:prstGeom>
          <a:noFill/>
        </p:spPr>
        <p:txBody>
          <a:bodyPr wrap="square">
            <a:spAutoFit/>
          </a:bodyPr>
          <a:lstStyle/>
          <a:p>
            <a:pPr algn="l">
              <a:spcBef>
                <a:spcPts val="0"/>
              </a:spcBef>
            </a:pPr>
            <a:r>
              <a:rPr sz="1200" b="1" i="0">
                <a:solidFill>
                  <a:srgbClr val="0F172A"/>
                </a:solidFill>
                <a:latin typeface="Segoe UI"/>
              </a:rPr>
              <a:t>Clean &amp; Engineer Features</a:t>
            </a:r>
          </a:p>
        </p:txBody>
      </p:sp>
      <p:sp>
        <p:nvSpPr>
          <p:cNvPr id="15" name="TextBox 14"/>
          <p:cNvSpPr txBox="1"/>
          <p:nvPr/>
        </p:nvSpPr>
        <p:spPr>
          <a:xfrm>
            <a:off x="1188720" y="2788920"/>
            <a:ext cx="10058400" cy="274320"/>
          </a:xfrm>
          <a:prstGeom prst="rect">
            <a:avLst/>
          </a:prstGeom>
          <a:noFill/>
        </p:spPr>
        <p:txBody>
          <a:bodyPr wrap="square">
            <a:spAutoFit/>
          </a:bodyPr>
          <a:lstStyle/>
          <a:p>
            <a:pPr algn="l">
              <a:spcBef>
                <a:spcPts val="0"/>
              </a:spcBef>
            </a:pPr>
            <a:r>
              <a:rPr sz="1050" b="0" i="0">
                <a:solidFill>
                  <a:srgbClr val="475569"/>
                </a:solidFill>
                <a:latin typeface="Segoe UI"/>
              </a:rPr>
              <a:t>Standardize 51 commodities × 17 cities. Build ML feature matrix: calendar transforms, autoregressive lags (1–12), rolling stats, momentum.</a:t>
            </a:r>
          </a:p>
        </p:txBody>
      </p:sp>
      <p:sp>
        <p:nvSpPr>
          <p:cNvPr id="16" name="Rounded Rectangle 15"/>
          <p:cNvSpPr/>
          <p:nvPr/>
        </p:nvSpPr>
        <p:spPr>
          <a:xfrm>
            <a:off x="502920" y="3383280"/>
            <a:ext cx="11183112" cy="749808"/>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 y="3502152"/>
            <a:ext cx="457200" cy="4572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3502152"/>
            <a:ext cx="457200" cy="457200"/>
          </a:xfrm>
          <a:prstGeom prst="rect">
            <a:avLst/>
          </a:prstGeom>
          <a:noFill/>
        </p:spPr>
        <p:txBody>
          <a:bodyPr wrap="square">
            <a:spAutoFit/>
          </a:bodyPr>
          <a:lstStyle/>
          <a:p>
            <a:pPr algn="ctr">
              <a:spcBef>
                <a:spcPts val="0"/>
              </a:spcBef>
            </a:pPr>
            <a:r>
              <a:rPr sz="1400" b="1" i="0">
                <a:solidFill>
                  <a:srgbClr val="FFFFFF"/>
                </a:solidFill>
                <a:latin typeface="Segoe UI"/>
              </a:rPr>
              <a:t>3</a:t>
            </a:r>
          </a:p>
        </p:txBody>
      </p:sp>
      <p:sp>
        <p:nvSpPr>
          <p:cNvPr id="19" name="TextBox 18"/>
          <p:cNvSpPr txBox="1"/>
          <p:nvPr/>
        </p:nvSpPr>
        <p:spPr>
          <a:xfrm>
            <a:off x="1188720" y="3474720"/>
            <a:ext cx="2194560" cy="274320"/>
          </a:xfrm>
          <a:prstGeom prst="rect">
            <a:avLst/>
          </a:prstGeom>
          <a:noFill/>
        </p:spPr>
        <p:txBody>
          <a:bodyPr wrap="square">
            <a:spAutoFit/>
          </a:bodyPr>
          <a:lstStyle/>
          <a:p>
            <a:pPr algn="l">
              <a:spcBef>
                <a:spcPts val="0"/>
              </a:spcBef>
            </a:pPr>
            <a:r>
              <a:rPr sz="1200" b="1" i="0">
                <a:solidFill>
                  <a:srgbClr val="0F172A"/>
                </a:solidFill>
                <a:latin typeface="Segoe UI"/>
              </a:rPr>
              <a:t>Train, Backtest &amp; Forecast</a:t>
            </a:r>
          </a:p>
        </p:txBody>
      </p:sp>
      <p:sp>
        <p:nvSpPr>
          <p:cNvPr id="20" name="TextBox 19"/>
          <p:cNvSpPr txBox="1"/>
          <p:nvPr/>
        </p:nvSpPr>
        <p:spPr>
          <a:xfrm>
            <a:off x="1188720" y="3749040"/>
            <a:ext cx="10058400" cy="274320"/>
          </a:xfrm>
          <a:prstGeom prst="rect">
            <a:avLst/>
          </a:prstGeom>
          <a:noFill/>
        </p:spPr>
        <p:txBody>
          <a:bodyPr wrap="square">
            <a:spAutoFit/>
          </a:bodyPr>
          <a:lstStyle/>
          <a:p>
            <a:pPr algn="l">
              <a:spcBef>
                <a:spcPts val="0"/>
              </a:spcBef>
            </a:pPr>
            <a:r>
              <a:rPr sz="1050" b="0" i="0">
                <a:solidFill>
                  <a:srgbClr val="475569"/>
                </a:solidFill>
                <a:latin typeface="Segoe UI"/>
              </a:rPr>
              <a:t>6-month holdout validation (35 train / 6 test). Benchmark Prophet vs. Recursive XGBoost. Route each commodity to its winning model. Generate 12-month forecasts.</a:t>
            </a:r>
          </a:p>
        </p:txBody>
      </p:sp>
      <p:sp>
        <p:nvSpPr>
          <p:cNvPr id="21" name="Rounded Rectangle 20"/>
          <p:cNvSpPr/>
          <p:nvPr/>
        </p:nvSpPr>
        <p:spPr>
          <a:xfrm>
            <a:off x="502920" y="4343400"/>
            <a:ext cx="11183112" cy="749808"/>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1792" y="4462272"/>
            <a:ext cx="457200" cy="4572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4462272"/>
            <a:ext cx="457200" cy="457200"/>
          </a:xfrm>
          <a:prstGeom prst="rect">
            <a:avLst/>
          </a:prstGeom>
          <a:noFill/>
        </p:spPr>
        <p:txBody>
          <a:bodyPr wrap="square">
            <a:spAutoFit/>
          </a:bodyPr>
          <a:lstStyle/>
          <a:p>
            <a:pPr algn="ctr">
              <a:spcBef>
                <a:spcPts val="0"/>
              </a:spcBef>
            </a:pPr>
            <a:r>
              <a:rPr sz="1400" b="1" i="0">
                <a:solidFill>
                  <a:srgbClr val="FFFFFF"/>
                </a:solidFill>
                <a:latin typeface="Segoe UI"/>
              </a:rPr>
              <a:t>4</a:t>
            </a:r>
          </a:p>
        </p:txBody>
      </p:sp>
      <p:sp>
        <p:nvSpPr>
          <p:cNvPr id="24" name="TextBox 23"/>
          <p:cNvSpPr txBox="1"/>
          <p:nvPr/>
        </p:nvSpPr>
        <p:spPr>
          <a:xfrm>
            <a:off x="1188720" y="4434840"/>
            <a:ext cx="2194560" cy="274320"/>
          </a:xfrm>
          <a:prstGeom prst="rect">
            <a:avLst/>
          </a:prstGeom>
          <a:noFill/>
        </p:spPr>
        <p:txBody>
          <a:bodyPr wrap="square">
            <a:spAutoFit/>
          </a:bodyPr>
          <a:lstStyle/>
          <a:p>
            <a:pPr algn="l">
              <a:spcBef>
                <a:spcPts val="0"/>
              </a:spcBef>
            </a:pPr>
            <a:r>
              <a:rPr sz="1200" b="1" i="0">
                <a:solidFill>
                  <a:srgbClr val="0F172A"/>
                </a:solidFill>
                <a:latin typeface="Segoe UI"/>
              </a:rPr>
              <a:t>Power BI Analytics Suite</a:t>
            </a:r>
          </a:p>
        </p:txBody>
      </p:sp>
      <p:sp>
        <p:nvSpPr>
          <p:cNvPr id="25" name="TextBox 24"/>
          <p:cNvSpPr txBox="1"/>
          <p:nvPr/>
        </p:nvSpPr>
        <p:spPr>
          <a:xfrm>
            <a:off x="1188720" y="4709160"/>
            <a:ext cx="10058400" cy="274320"/>
          </a:xfrm>
          <a:prstGeom prst="rect">
            <a:avLst/>
          </a:prstGeom>
          <a:noFill/>
        </p:spPr>
        <p:txBody>
          <a:bodyPr wrap="square">
            <a:spAutoFit/>
          </a:bodyPr>
          <a:lstStyle/>
          <a:p>
            <a:pPr algn="l">
              <a:spcBef>
                <a:spcPts val="0"/>
              </a:spcBef>
            </a:pPr>
            <a:r>
              <a:rPr sz="1050" b="0" i="0">
                <a:solidFill>
                  <a:srgbClr val="475569"/>
                </a:solidFill>
                <a:latin typeface="Segoe UI"/>
              </a:rPr>
              <a:t>Export star-schema CSVs. Render 3 interactive dashboards: Executive KPIs, 12-Month Trend, Model Accuracy &amp; City Price Intelligence.</a:t>
            </a:r>
          </a:p>
        </p:txBody>
      </p:sp>
      <p:sp>
        <p:nvSpPr>
          <p:cNvPr id="26" name="Rectangle 25"/>
          <p:cNvSpPr/>
          <p:nvPr/>
        </p:nvSpPr>
        <p:spPr>
          <a:xfrm>
            <a:off x="800100" y="2194560"/>
            <a:ext cx="36576" cy="64008"/>
          </a:xfrm>
          <a:prstGeom prst="rect">
            <a:avLst/>
          </a:prstGeom>
          <a:solidFill>
            <a:srgbClr val="96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100" y="3154680"/>
            <a:ext cx="36576" cy="64008"/>
          </a:xfrm>
          <a:prstGeom prst="rect">
            <a:avLst/>
          </a:prstGeom>
          <a:solidFill>
            <a:srgbClr val="96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0100" y="4114800"/>
            <a:ext cx="36576" cy="64008"/>
          </a:xfrm>
          <a:prstGeom prst="rect">
            <a:avLst/>
          </a:prstGeom>
          <a:solidFill>
            <a:srgbClr val="96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02920" y="1325880"/>
            <a:ext cx="11183112"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38328"/>
            <a:ext cx="10972800" cy="228600"/>
          </a:xfrm>
          <a:prstGeom prst="rect">
            <a:avLst/>
          </a:prstGeom>
          <a:noFill/>
        </p:spPr>
        <p:txBody>
          <a:bodyPr wrap="square">
            <a:spAutoFit/>
          </a:bodyPr>
          <a:lstStyle/>
          <a:p>
            <a:pPr algn="l">
              <a:spcBef>
                <a:spcPts val="0"/>
              </a:spcBef>
            </a:pPr>
            <a:r>
              <a:rPr sz="850" b="1" i="0">
                <a:solidFill>
                  <a:srgbClr val="2563EB"/>
                </a:solidFill>
                <a:latin typeface="Segoe UI"/>
              </a:rPr>
              <a:t>PROBLEMS FACED</a:t>
            </a:r>
          </a:p>
        </p:txBody>
      </p:sp>
      <p:sp>
        <p:nvSpPr>
          <p:cNvPr id="4" name="TextBox 3"/>
          <p:cNvSpPr txBox="1"/>
          <p:nvPr/>
        </p:nvSpPr>
        <p:spPr>
          <a:xfrm>
            <a:off x="502920" y="502920"/>
            <a:ext cx="11155680" cy="475488"/>
          </a:xfrm>
          <a:prstGeom prst="rect">
            <a:avLst/>
          </a:prstGeom>
          <a:noFill/>
        </p:spPr>
        <p:txBody>
          <a:bodyPr wrap="square">
            <a:spAutoFit/>
          </a:bodyPr>
          <a:lstStyle/>
          <a:p>
            <a:pPr algn="l">
              <a:spcBef>
                <a:spcPts val="0"/>
              </a:spcBef>
            </a:pPr>
            <a:r>
              <a:rPr sz="2200" b="1" i="0">
                <a:solidFill>
                  <a:srgbClr val="0F172A"/>
                </a:solidFill>
                <a:latin typeface="Segoe UI"/>
              </a:rPr>
              <a:t>Data Scraping Bottlenecks &amp; How We Solved Them</a:t>
            </a:r>
          </a:p>
        </p:txBody>
      </p:sp>
      <p:sp>
        <p:nvSpPr>
          <p:cNvPr id="5" name="TextBox 4"/>
          <p:cNvSpPr txBox="1"/>
          <p:nvPr/>
        </p:nvSpPr>
        <p:spPr>
          <a:xfrm>
            <a:off x="502920" y="960120"/>
            <a:ext cx="11155680" cy="320040"/>
          </a:xfrm>
          <a:prstGeom prst="rect">
            <a:avLst/>
          </a:prstGeom>
          <a:noFill/>
        </p:spPr>
        <p:txBody>
          <a:bodyPr wrap="square">
            <a:spAutoFit/>
          </a:bodyPr>
          <a:lstStyle/>
          <a:p>
            <a:pPr algn="l">
              <a:spcBef>
                <a:spcPts val="0"/>
              </a:spcBef>
            </a:pPr>
            <a:r>
              <a:rPr sz="1100" b="0" i="0">
                <a:solidFill>
                  <a:srgbClr val="475569"/>
                </a:solidFill>
                <a:latin typeface="Segoe UI"/>
              </a:rPr>
              <a:t>Real engineering challenges overcome during the data ingestion phase.</a:t>
            </a:r>
          </a:p>
        </p:txBody>
      </p:sp>
      <p:sp>
        <p:nvSpPr>
          <p:cNvPr id="6" name="Rounded Rectangle 5"/>
          <p:cNvSpPr/>
          <p:nvPr/>
        </p:nvSpPr>
        <p:spPr>
          <a:xfrm>
            <a:off x="530352" y="1499616"/>
            <a:ext cx="5440680" cy="2423160"/>
          </a:xfrm>
          <a:prstGeom prst="round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463040"/>
            <a:ext cx="5440680" cy="242316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5440680" cy="502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72768"/>
            <a:ext cx="5239512" cy="292608"/>
          </a:xfrm>
          <a:prstGeom prst="rect">
            <a:avLst/>
          </a:prstGeom>
          <a:noFill/>
        </p:spPr>
        <p:txBody>
          <a:bodyPr wrap="square">
            <a:spAutoFit/>
          </a:bodyPr>
          <a:lstStyle/>
          <a:p>
            <a:pPr algn="l">
              <a:spcBef>
                <a:spcPts val="0"/>
              </a:spcBef>
            </a:pPr>
            <a:r>
              <a:rPr sz="1250" b="1" i="0">
                <a:solidFill>
                  <a:srgbClr val="0F172A"/>
                </a:solidFill>
                <a:latin typeface="Segoe UI"/>
              </a:rPr>
              <a:t>Problem 1 — Dynamic JS Payload (PBS Website)</a:t>
            </a:r>
          </a:p>
        </p:txBody>
      </p:sp>
      <p:sp>
        <p:nvSpPr>
          <p:cNvPr id="10" name="TextBox 9"/>
          <p:cNvSpPr txBox="1"/>
          <p:nvPr/>
        </p:nvSpPr>
        <p:spPr>
          <a:xfrm>
            <a:off x="658368" y="1883664"/>
            <a:ext cx="5239512" cy="1947672"/>
          </a:xfrm>
          <a:prstGeom prst="rect">
            <a:avLst/>
          </a:prstGeom>
          <a:noFill/>
        </p:spPr>
        <p:txBody>
          <a:bodyPr wrap="square">
            <a:spAutoFit/>
          </a:bodyPr>
          <a:lstStyle/>
          <a:p>
            <a:pPr algn="l">
              <a:spcBef>
                <a:spcPts val="0"/>
              </a:spcBef>
            </a:pPr>
            <a:r>
              <a:rPr sz="1050" b="0" i="0">
                <a:solidFill>
                  <a:srgbClr val="475569"/>
                </a:solidFill>
                <a:latin typeface="Segoe UI"/>
              </a:rPr>
              <a:t>Standard scrapers returned empty HTML. Download links were injected via JavaScript (const cpidata1).
Solution: Extracted raw JS string with regex, parsed into Python dict with chompjs in under 2 seconds — no Selenium required.</a:t>
            </a:r>
          </a:p>
        </p:txBody>
      </p:sp>
      <p:sp>
        <p:nvSpPr>
          <p:cNvPr id="11" name="Rounded Rectangle 10"/>
          <p:cNvSpPr/>
          <p:nvPr/>
        </p:nvSpPr>
        <p:spPr>
          <a:xfrm>
            <a:off x="530352" y="4032504"/>
            <a:ext cx="5440680" cy="2587752"/>
          </a:xfrm>
          <a:prstGeom prst="round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2920" y="3995928"/>
            <a:ext cx="5440680" cy="2587752"/>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3995928"/>
            <a:ext cx="5440680" cy="502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105656"/>
            <a:ext cx="5239512" cy="292608"/>
          </a:xfrm>
          <a:prstGeom prst="rect">
            <a:avLst/>
          </a:prstGeom>
          <a:noFill/>
        </p:spPr>
        <p:txBody>
          <a:bodyPr wrap="square">
            <a:spAutoFit/>
          </a:bodyPr>
          <a:lstStyle/>
          <a:p>
            <a:pPr algn="l">
              <a:spcBef>
                <a:spcPts val="0"/>
              </a:spcBef>
            </a:pPr>
            <a:r>
              <a:rPr sz="1250" b="1" i="0">
                <a:solidFill>
                  <a:srgbClr val="0F172A"/>
                </a:solidFill>
                <a:latin typeface="Segoe UI"/>
              </a:rPr>
              <a:t>Problem 2 — Hybrid Document Formats</a:t>
            </a:r>
          </a:p>
        </p:txBody>
      </p:sp>
      <p:sp>
        <p:nvSpPr>
          <p:cNvPr id="15" name="TextBox 14"/>
          <p:cNvSpPr txBox="1"/>
          <p:nvPr/>
        </p:nvSpPr>
        <p:spPr>
          <a:xfrm>
            <a:off x="658368" y="4416552"/>
            <a:ext cx="5239512" cy="2112264"/>
          </a:xfrm>
          <a:prstGeom prst="rect">
            <a:avLst/>
          </a:prstGeom>
          <a:noFill/>
        </p:spPr>
        <p:txBody>
          <a:bodyPr wrap="square">
            <a:spAutoFit/>
          </a:bodyPr>
          <a:lstStyle/>
          <a:p>
            <a:pPr algn="l">
              <a:spcBef>
                <a:spcPts val="0"/>
              </a:spcBef>
            </a:pPr>
            <a:r>
              <a:rPr sz="1050" b="0" i="0">
                <a:solidFill>
                  <a:srgbClr val="475569"/>
                </a:solidFill>
                <a:latin typeface="Segoe UI"/>
              </a:rPr>
              <a:t>Same data published as modern XLSX, legacy XLS, or read-only PDF depending on the year.
Solution: Dual-engine compiler — openpyxl for Excel, pypdf + regex tokenizer for PDF line-by-line price extraction.</a:t>
            </a:r>
          </a:p>
        </p:txBody>
      </p:sp>
      <p:sp>
        <p:nvSpPr>
          <p:cNvPr id="16" name="Rounded Rectangle 15"/>
          <p:cNvSpPr/>
          <p:nvPr/>
        </p:nvSpPr>
        <p:spPr>
          <a:xfrm>
            <a:off x="6089904" y="1499616"/>
            <a:ext cx="5577840" cy="5120640"/>
          </a:xfrm>
          <a:prstGeom prst="roundRect">
            <a:avLst/>
          </a:prstGeom>
          <a:solidFill>
            <a:srgbClr val="DC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062472" y="1463040"/>
            <a:ext cx="5577840" cy="512064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62472" y="1463040"/>
            <a:ext cx="5577840" cy="5029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572768"/>
            <a:ext cx="5376672" cy="292608"/>
          </a:xfrm>
          <a:prstGeom prst="rect">
            <a:avLst/>
          </a:prstGeom>
          <a:noFill/>
        </p:spPr>
        <p:txBody>
          <a:bodyPr wrap="square">
            <a:spAutoFit/>
          </a:bodyPr>
          <a:lstStyle/>
          <a:p>
            <a:pPr algn="l">
              <a:spcBef>
                <a:spcPts val="0"/>
              </a:spcBef>
            </a:pPr>
            <a:r>
              <a:rPr sz="1250" b="1" i="0">
                <a:solidFill>
                  <a:srgbClr val="0F172A"/>
                </a:solidFill>
                <a:latin typeface="Segoe UI"/>
              </a:rPr>
              <a:t>Problem 3 — Missing Months &amp; Data Gaps</a:t>
            </a:r>
          </a:p>
        </p:txBody>
      </p:sp>
      <p:sp>
        <p:nvSpPr>
          <p:cNvPr id="20" name="TextBox 19"/>
          <p:cNvSpPr txBox="1"/>
          <p:nvPr/>
        </p:nvSpPr>
        <p:spPr>
          <a:xfrm>
            <a:off x="6217920" y="1883664"/>
            <a:ext cx="5376672" cy="4645152"/>
          </a:xfrm>
          <a:prstGeom prst="rect">
            <a:avLst/>
          </a:prstGeom>
          <a:noFill/>
        </p:spPr>
        <p:txBody>
          <a:bodyPr wrap="square">
            <a:spAutoFit/>
          </a:bodyPr>
          <a:lstStyle/>
          <a:p>
            <a:pPr algn="l">
              <a:spcBef>
                <a:spcPts val="0"/>
              </a:spcBef>
            </a:pPr>
            <a:r>
              <a:rPr sz="1050" b="0" i="0">
                <a:solidFill>
                  <a:srgbClr val="475569"/>
                </a:solidFill>
                <a:latin typeface="Segoe UI"/>
              </a:rPr>
              <a:t>Some months had empty URL cells ("None"), broken links, or 404 responses.
Solution A — Audit Log: Script tracks a 60-month target window and writes every failure to missing_months.txt with its specific reason.
Solution B — Auto-Imputation: When the official National Average cell is missing, the pipeline dynamically computes the arithmetic mean across all valid city observations for that row.
Solution C — Polite Crawling: 1.5-second delay between downloads prevents IP rate-limiting.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02920" y="1325880"/>
            <a:ext cx="11183112"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38328"/>
            <a:ext cx="10972800" cy="228600"/>
          </a:xfrm>
          <a:prstGeom prst="rect">
            <a:avLst/>
          </a:prstGeom>
          <a:noFill/>
        </p:spPr>
        <p:txBody>
          <a:bodyPr wrap="square">
            <a:spAutoFit/>
          </a:bodyPr>
          <a:lstStyle/>
          <a:p>
            <a:pPr algn="l">
              <a:spcBef>
                <a:spcPts val="0"/>
              </a:spcBef>
            </a:pPr>
            <a:r>
              <a:rPr sz="850" b="1" i="0">
                <a:solidFill>
                  <a:srgbClr val="2563EB"/>
                </a:solidFill>
                <a:latin typeface="Segoe UI"/>
              </a:rPr>
              <a:t>IMPLEMENTATION — MACHINE LEARNING</a:t>
            </a:r>
          </a:p>
        </p:txBody>
      </p:sp>
      <p:sp>
        <p:nvSpPr>
          <p:cNvPr id="4" name="TextBox 3"/>
          <p:cNvSpPr txBox="1"/>
          <p:nvPr/>
        </p:nvSpPr>
        <p:spPr>
          <a:xfrm>
            <a:off x="502920" y="502920"/>
            <a:ext cx="11155680" cy="475488"/>
          </a:xfrm>
          <a:prstGeom prst="rect">
            <a:avLst/>
          </a:prstGeom>
          <a:noFill/>
        </p:spPr>
        <p:txBody>
          <a:bodyPr wrap="square">
            <a:spAutoFit/>
          </a:bodyPr>
          <a:lstStyle/>
          <a:p>
            <a:pPr algn="l">
              <a:spcBef>
                <a:spcPts val="0"/>
              </a:spcBef>
            </a:pPr>
            <a:r>
              <a:rPr sz="2200" b="1" i="0">
                <a:solidFill>
                  <a:srgbClr val="0F172A"/>
                </a:solidFill>
                <a:latin typeface="Segoe UI"/>
              </a:rPr>
              <a:t>Model Design: Prophet vs. XGBoost</a:t>
            </a:r>
          </a:p>
        </p:txBody>
      </p:sp>
      <p:sp>
        <p:nvSpPr>
          <p:cNvPr id="5" name="TextBox 4"/>
          <p:cNvSpPr txBox="1"/>
          <p:nvPr/>
        </p:nvSpPr>
        <p:spPr>
          <a:xfrm>
            <a:off x="502920" y="960120"/>
            <a:ext cx="11155680" cy="320040"/>
          </a:xfrm>
          <a:prstGeom prst="rect">
            <a:avLst/>
          </a:prstGeom>
          <a:noFill/>
        </p:spPr>
        <p:txBody>
          <a:bodyPr wrap="square">
            <a:spAutoFit/>
          </a:bodyPr>
          <a:lstStyle/>
          <a:p>
            <a:pPr algn="l">
              <a:spcBef>
                <a:spcPts val="0"/>
              </a:spcBef>
            </a:pPr>
            <a:r>
              <a:rPr sz="1100" b="0" i="0">
                <a:solidFill>
                  <a:srgbClr val="475569"/>
                </a:solidFill>
                <a:latin typeface="Segoe UI"/>
              </a:rPr>
              <a:t>Two complementary algorithms targeting distinct behavioral characteristics of commodity prices.</a:t>
            </a:r>
          </a:p>
        </p:txBody>
      </p:sp>
      <p:sp>
        <p:nvSpPr>
          <p:cNvPr id="6" name="Rounded Rectangle 5"/>
          <p:cNvSpPr/>
          <p:nvPr/>
        </p:nvSpPr>
        <p:spPr>
          <a:xfrm>
            <a:off x="502920" y="1463040"/>
            <a:ext cx="5440680" cy="512064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63040"/>
            <a:ext cx="5440680"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72768"/>
            <a:ext cx="5212080" cy="4846320"/>
          </a:xfrm>
          <a:prstGeom prst="rect">
            <a:avLst/>
          </a:prstGeom>
          <a:noFill/>
        </p:spPr>
        <p:txBody>
          <a:bodyPr wrap="square">
            <a:spAutoFit/>
          </a:bodyPr>
          <a:lstStyle/>
          <a:p>
            <a:pPr algn="l">
              <a:spcBef>
                <a:spcPts val="0"/>
              </a:spcBef>
            </a:pPr>
            <a:r>
              <a:rPr sz="1400" b="1" i="0">
                <a:solidFill>
                  <a:srgbClr val="2563EB"/>
                </a:solidFill>
                <a:latin typeface="Segoe UI"/>
              </a:rPr>
              <a:t>Facebook Prophet</a:t>
            </a:r>
          </a:p>
          <a:p>
            <a:pPr algn="l">
              <a:spcBef>
                <a:spcPts val="400"/>
              </a:spcBef>
            </a:pPr>
            <a:r>
              <a:rPr sz="1050" b="0" i="0">
                <a:solidFill>
                  <a:srgbClr val="475569"/>
                </a:solidFill>
                <a:latin typeface="Segoe UI"/>
              </a:rPr>
              <a:t>Additive/multiplicative Fourier decomposition</a:t>
            </a:r>
          </a:p>
          <a:p>
            <a:pPr algn="l">
              <a:spcBef>
                <a:spcPts val="0"/>
              </a:spcBef>
            </a:pPr>
            <a:r>
              <a:rPr sz="600" b="0" i="0">
                <a:solidFill>
                  <a:srgbClr val="0F172A"/>
                </a:solidFill>
                <a:latin typeface="Segoe UI"/>
              </a:rPr>
              <a:t/>
            </a:r>
          </a:p>
          <a:p>
            <a:pPr algn="l">
              <a:spcBef>
                <a:spcPts val="0"/>
              </a:spcBef>
            </a:pPr>
            <a:r>
              <a:rPr sz="1100" b="1" i="1">
                <a:solidFill>
                  <a:srgbClr val="0F172A"/>
                </a:solidFill>
                <a:latin typeface="Segoe UI Semibold"/>
              </a:rPr>
              <a:t>y(t) = Trend + Seasonality + Error</a:t>
            </a:r>
          </a:p>
          <a:p>
            <a:pPr algn="l">
              <a:spcBef>
                <a:spcPts val="0"/>
              </a:spcBef>
            </a:pPr>
            <a:r>
              <a:rPr sz="600" b="0" i="0">
                <a:solidFill>
                  <a:srgbClr val="0F172A"/>
                </a:solidFill>
                <a:latin typeface="Segoe UI"/>
              </a:rPr>
              <a:t/>
            </a:r>
          </a:p>
          <a:p>
            <a:pPr algn="l">
              <a:spcBef>
                <a:spcPts val="0"/>
              </a:spcBef>
            </a:pPr>
            <a:r>
              <a:rPr sz="1050" b="0" i="0">
                <a:solidFill>
                  <a:srgbClr val="475569"/>
                </a:solidFill>
                <a:latin typeface="Segoe UI"/>
              </a:rPr>
              <a:t>· Smooth Fourier yearly harmonics capture cyclical harvest patterns.</a:t>
            </a:r>
          </a:p>
          <a:p>
            <a:pPr algn="l">
              <a:spcBef>
                <a:spcPts val="500"/>
              </a:spcBef>
            </a:pPr>
            <a:r>
              <a:rPr sz="1050" b="0" i="0">
                <a:solidFill>
                  <a:srgbClr val="475569"/>
                </a:solidFill>
                <a:latin typeface="Segoe UI"/>
              </a:rPr>
              <a:t>· Multiplicative mode for high-volatility vegetables — swings scale with price level.</a:t>
            </a:r>
          </a:p>
          <a:p>
            <a:pPr algn="l">
              <a:spcBef>
                <a:spcPts val="500"/>
              </a:spcBef>
            </a:pPr>
            <a:r>
              <a:rPr sz="1050" b="0" i="0">
                <a:solidFill>
                  <a:srgbClr val="475569"/>
                </a:solidFill>
                <a:latin typeface="Segoe UI"/>
              </a:rPr>
              <a:t>· Additive mode for stable pulses — constant seasonal amplitude.</a:t>
            </a:r>
          </a:p>
          <a:p>
            <a:pPr algn="l">
              <a:spcBef>
                <a:spcPts val="500"/>
              </a:spcBef>
            </a:pPr>
            <a:r>
              <a:rPr sz="1050" b="0" i="0">
                <a:solidFill>
                  <a:srgbClr val="475569"/>
                </a:solidFill>
                <a:latin typeface="Segoe UI"/>
              </a:rPr>
              <a:t>· Native upper/lower confidence intervals.</a:t>
            </a:r>
          </a:p>
          <a:p>
            <a:pPr algn="l">
              <a:spcBef>
                <a:spcPts val="0"/>
              </a:spcBef>
            </a:pPr>
            <a:r>
              <a:rPr sz="600" b="0" i="0">
                <a:solidFill>
                  <a:srgbClr val="0F172A"/>
                </a:solidFill>
                <a:latin typeface="Segoe UI"/>
              </a:rPr>
              <a:t/>
            </a:r>
          </a:p>
          <a:p>
            <a:pPr algn="l">
              <a:spcBef>
                <a:spcPts val="0"/>
              </a:spcBef>
            </a:pPr>
            <a:r>
              <a:rPr sz="1100" b="1" i="0">
                <a:solidFill>
                  <a:srgbClr val="2563EB"/>
                </a:solidFill>
                <a:latin typeface="Segoe UI"/>
              </a:rPr>
              <a:t>Best for: Potatoes, Pulse Gram</a:t>
            </a:r>
          </a:p>
        </p:txBody>
      </p:sp>
      <p:sp>
        <p:nvSpPr>
          <p:cNvPr id="9" name="Rounded Rectangle 8"/>
          <p:cNvSpPr/>
          <p:nvPr/>
        </p:nvSpPr>
        <p:spPr>
          <a:xfrm>
            <a:off x="6199632" y="1463040"/>
            <a:ext cx="5486400" cy="512064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2" y="1463040"/>
            <a:ext cx="5486400" cy="5029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572768"/>
            <a:ext cx="5257800" cy="4846320"/>
          </a:xfrm>
          <a:prstGeom prst="rect">
            <a:avLst/>
          </a:prstGeom>
          <a:noFill/>
        </p:spPr>
        <p:txBody>
          <a:bodyPr wrap="square">
            <a:spAutoFit/>
          </a:bodyPr>
          <a:lstStyle/>
          <a:p>
            <a:pPr algn="l">
              <a:spcBef>
                <a:spcPts val="0"/>
              </a:spcBef>
            </a:pPr>
            <a:r>
              <a:rPr sz="1400" b="1" i="0">
                <a:solidFill>
                  <a:srgbClr val="059669"/>
                </a:solidFill>
                <a:latin typeface="Segoe UI"/>
              </a:rPr>
              <a:t>XGBoost — Recursive Multi-Step Regressor</a:t>
            </a:r>
          </a:p>
          <a:p>
            <a:pPr algn="l">
              <a:spcBef>
                <a:spcPts val="400"/>
              </a:spcBef>
            </a:pPr>
            <a:r>
              <a:rPr sz="1050" b="0" i="0">
                <a:solidFill>
                  <a:srgbClr val="475569"/>
                </a:solidFill>
                <a:latin typeface="Segoe UI"/>
              </a:rPr>
              <a:t>Gradient-boosted decision trees with autoregressive roll</a:t>
            </a:r>
          </a:p>
          <a:p>
            <a:pPr algn="l">
              <a:spcBef>
                <a:spcPts val="0"/>
              </a:spcBef>
            </a:pPr>
            <a:r>
              <a:rPr sz="600" b="0" i="0">
                <a:solidFill>
                  <a:srgbClr val="0F172A"/>
                </a:solidFill>
                <a:latin typeface="Segoe UI"/>
              </a:rPr>
              <a:t/>
            </a:r>
          </a:p>
          <a:p>
            <a:pPr algn="l">
              <a:spcBef>
                <a:spcPts val="0"/>
              </a:spcBef>
            </a:pPr>
            <a:r>
              <a:rPr sz="1100" b="1" i="0">
                <a:solidFill>
                  <a:srgbClr val="0F172A"/>
                </a:solidFill>
                <a:latin typeface="Segoe UI Semibold"/>
              </a:rPr>
              <a:t>Feature Matrix per forecast step:</a:t>
            </a:r>
          </a:p>
          <a:p>
            <a:pPr algn="l">
              <a:spcBef>
                <a:spcPts val="0"/>
              </a:spcBef>
            </a:pPr>
            <a:r>
              <a:rPr sz="600" b="0" i="0">
                <a:solidFill>
                  <a:srgbClr val="0F172A"/>
                </a:solidFill>
                <a:latin typeface="Segoe UI"/>
              </a:rPr>
              <a:t/>
            </a:r>
          </a:p>
          <a:p>
            <a:pPr algn="l">
              <a:spcBef>
                <a:spcPts val="0"/>
              </a:spcBef>
            </a:pPr>
            <a:r>
              <a:rPr sz="1050" b="0" i="0">
                <a:solidFill>
                  <a:srgbClr val="475569"/>
                </a:solidFill>
                <a:latin typeface="Segoe UI"/>
              </a:rPr>
              <a:t>· Calendar: month, quarter, sin(2πm/12), cos(2πm/12)</a:t>
            </a:r>
          </a:p>
          <a:p>
            <a:pPr algn="l">
              <a:spcBef>
                <a:spcPts val="500"/>
              </a:spcBef>
            </a:pPr>
            <a:r>
              <a:rPr sz="1050" b="0" i="0">
                <a:solidFill>
                  <a:srgbClr val="475569"/>
                </a:solidFill>
                <a:latin typeface="Segoe UI"/>
              </a:rPr>
              <a:t>· Lags: price at t-1, t-2, t-3, t-6, t-12 (YoY)</a:t>
            </a:r>
          </a:p>
          <a:p>
            <a:pPr algn="l">
              <a:spcBef>
                <a:spcPts val="500"/>
              </a:spcBef>
            </a:pPr>
            <a:r>
              <a:rPr sz="1050" b="0" i="0">
                <a:solidFill>
                  <a:srgbClr val="475569"/>
                </a:solidFill>
                <a:latin typeface="Segoe UI"/>
              </a:rPr>
              <a:t>· Rolling: 3-month and 6-month mean &amp; std dev</a:t>
            </a:r>
          </a:p>
          <a:p>
            <a:pPr algn="l">
              <a:spcBef>
                <a:spcPts val="500"/>
              </a:spcBef>
            </a:pPr>
            <a:r>
              <a:rPr sz="1050" b="0" i="0">
                <a:solidFill>
                  <a:srgbClr val="475569"/>
                </a:solidFill>
                <a:latin typeface="Segoe UI"/>
              </a:rPr>
              <a:t>· Momentum: MoM price diff &amp; % change (lagged)</a:t>
            </a:r>
          </a:p>
          <a:p>
            <a:pPr algn="l">
              <a:spcBef>
                <a:spcPts val="500"/>
              </a:spcBef>
            </a:pPr>
            <a:r>
              <a:rPr sz="1050" b="0" i="0">
                <a:solidFill>
                  <a:srgbClr val="475569"/>
                </a:solidFill>
                <a:latin typeface="Segoe UI"/>
              </a:rPr>
              <a:t>· Recursive roll: each predicted ŷ feeds t+1 as lag</a:t>
            </a:r>
          </a:p>
          <a:p>
            <a:pPr algn="l">
              <a:spcBef>
                <a:spcPts val="0"/>
              </a:spcBef>
            </a:pPr>
            <a:r>
              <a:rPr sz="600" b="0" i="0">
                <a:solidFill>
                  <a:srgbClr val="0F172A"/>
                </a:solidFill>
                <a:latin typeface="Segoe UI"/>
              </a:rPr>
              <a:t/>
            </a:r>
          </a:p>
          <a:p>
            <a:pPr algn="l">
              <a:spcBef>
                <a:spcPts val="0"/>
              </a:spcBef>
            </a:pPr>
            <a:r>
              <a:rPr sz="1100" b="1" i="0">
                <a:solidFill>
                  <a:srgbClr val="059669"/>
                </a:solidFill>
                <a:latin typeface="Segoe UI"/>
              </a:rPr>
              <a:t>Best for: Tomatoes, Onions, all Pulses (except Gram)</a:t>
            </a:r>
          </a:p>
        </p:txBody>
      </p:sp>
      <p:sp>
        <p:nvSpPr>
          <p:cNvPr id="12" name="Rectangle 11"/>
          <p:cNvSpPr/>
          <p:nvPr/>
        </p:nvSpPr>
        <p:spPr>
          <a:xfrm>
            <a:off x="5989320" y="2468880"/>
            <a:ext cx="22860" cy="320040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06440" y="3383280"/>
            <a:ext cx="384048" cy="384048"/>
          </a:xfrm>
          <a:prstGeom prst="rect">
            <a:avLst/>
          </a:prstGeom>
          <a:noFill/>
        </p:spPr>
        <p:txBody>
          <a:bodyPr wrap="square">
            <a:spAutoFit/>
          </a:bodyPr>
          <a:lstStyle/>
          <a:p>
            <a:pPr algn="ctr">
              <a:spcBef>
                <a:spcPts val="0"/>
              </a:spcBef>
            </a:pPr>
            <a:r>
              <a:rPr sz="1100" b="1" i="0">
                <a:solidFill>
                  <a:srgbClr val="475569"/>
                </a:solidFill>
                <a:latin typeface="Segoe UI"/>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02920" y="1325880"/>
            <a:ext cx="11183112" cy="15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38328"/>
            <a:ext cx="10972800" cy="228600"/>
          </a:xfrm>
          <a:prstGeom prst="rect">
            <a:avLst/>
          </a:prstGeom>
          <a:noFill/>
        </p:spPr>
        <p:txBody>
          <a:bodyPr wrap="square">
            <a:spAutoFit/>
          </a:bodyPr>
          <a:lstStyle/>
          <a:p>
            <a:pPr algn="l">
              <a:spcBef>
                <a:spcPts val="0"/>
              </a:spcBef>
            </a:pPr>
            <a:r>
              <a:rPr sz="850" b="1" i="0">
                <a:solidFill>
                  <a:srgbClr val="2563EB"/>
                </a:solidFill>
                <a:latin typeface="Segoe UI"/>
              </a:rPr>
              <a:t>EMPIRICAL RESULTS</a:t>
            </a:r>
          </a:p>
        </p:txBody>
      </p:sp>
      <p:sp>
        <p:nvSpPr>
          <p:cNvPr id="4" name="TextBox 3"/>
          <p:cNvSpPr txBox="1"/>
          <p:nvPr/>
        </p:nvSpPr>
        <p:spPr>
          <a:xfrm>
            <a:off x="502920" y="502920"/>
            <a:ext cx="11155680" cy="475488"/>
          </a:xfrm>
          <a:prstGeom prst="rect">
            <a:avLst/>
          </a:prstGeom>
          <a:noFill/>
        </p:spPr>
        <p:txBody>
          <a:bodyPr wrap="square">
            <a:spAutoFit/>
          </a:bodyPr>
          <a:lstStyle/>
          <a:p>
            <a:pPr algn="l">
              <a:spcBef>
                <a:spcPts val="0"/>
              </a:spcBef>
            </a:pPr>
            <a:r>
              <a:rPr sz="2200" b="1" i="0">
                <a:solidFill>
                  <a:srgbClr val="0F172A"/>
                </a:solidFill>
                <a:latin typeface="Segoe UI"/>
              </a:rPr>
              <a:t>Model Accuracy &amp; The Potato Anomaly</a:t>
            </a:r>
          </a:p>
        </p:txBody>
      </p:sp>
      <p:sp>
        <p:nvSpPr>
          <p:cNvPr id="5" name="TextBox 4"/>
          <p:cNvSpPr txBox="1"/>
          <p:nvPr/>
        </p:nvSpPr>
        <p:spPr>
          <a:xfrm>
            <a:off x="502920" y="960120"/>
            <a:ext cx="11155680" cy="320040"/>
          </a:xfrm>
          <a:prstGeom prst="rect">
            <a:avLst/>
          </a:prstGeom>
          <a:noFill/>
        </p:spPr>
        <p:txBody>
          <a:bodyPr wrap="square">
            <a:spAutoFit/>
          </a:bodyPr>
          <a:lstStyle/>
          <a:p>
            <a:pPr algn="l">
              <a:spcBef>
                <a:spcPts val="0"/>
              </a:spcBef>
            </a:pPr>
            <a:r>
              <a:rPr sz="1100" b="0" i="0">
                <a:solidFill>
                  <a:srgbClr val="475569"/>
                </a:solidFill>
                <a:latin typeface="Segoe UI"/>
              </a:rPr>
              <a:t>6-month holdout backtest. Accuracy % = 100 − MAPE.   RMSE &amp; MAE measured in Rs/Kg.</a:t>
            </a:r>
          </a:p>
        </p:txBody>
      </p:sp>
      <p:sp>
        <p:nvSpPr>
          <p:cNvPr id="6" name="Rectangle 5"/>
          <p:cNvSpPr/>
          <p:nvPr/>
        </p:nvSpPr>
        <p:spPr>
          <a:xfrm>
            <a:off x="502920" y="1463040"/>
            <a:ext cx="2286000" cy="384048"/>
          </a:xfrm>
          <a:prstGeom prst="rect">
            <a:avLst/>
          </a:prstGeom>
          <a:solidFill>
            <a:srgbClr val="0B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1545336"/>
            <a:ext cx="2194560" cy="292607"/>
          </a:xfrm>
          <a:prstGeom prst="rect">
            <a:avLst/>
          </a:prstGeom>
          <a:noFill/>
        </p:spPr>
        <p:txBody>
          <a:bodyPr wrap="square">
            <a:spAutoFit/>
          </a:bodyPr>
          <a:lstStyle/>
          <a:p>
            <a:pPr algn="l">
              <a:spcBef>
                <a:spcPts val="0"/>
              </a:spcBef>
            </a:pPr>
            <a:r>
              <a:rPr sz="1000" b="1" i="0">
                <a:solidFill>
                  <a:srgbClr val="FFFFFF"/>
                </a:solidFill>
                <a:latin typeface="Segoe UI"/>
              </a:rPr>
              <a:t>Commodity</a:t>
            </a:r>
          </a:p>
        </p:txBody>
      </p:sp>
      <p:sp>
        <p:nvSpPr>
          <p:cNvPr id="8" name="Rectangle 7"/>
          <p:cNvSpPr/>
          <p:nvPr/>
        </p:nvSpPr>
        <p:spPr>
          <a:xfrm>
            <a:off x="2825496" y="1463040"/>
            <a:ext cx="1280160" cy="384048"/>
          </a:xfrm>
          <a:prstGeom prst="rect">
            <a:avLst/>
          </a:prstGeom>
          <a:solidFill>
            <a:srgbClr val="0B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98648" y="1545336"/>
            <a:ext cx="1188719" cy="292607"/>
          </a:xfrm>
          <a:prstGeom prst="rect">
            <a:avLst/>
          </a:prstGeom>
          <a:noFill/>
        </p:spPr>
        <p:txBody>
          <a:bodyPr wrap="square">
            <a:spAutoFit/>
          </a:bodyPr>
          <a:lstStyle/>
          <a:p>
            <a:pPr algn="l">
              <a:spcBef>
                <a:spcPts val="0"/>
              </a:spcBef>
            </a:pPr>
            <a:r>
              <a:rPr sz="1000" b="1" i="0">
                <a:solidFill>
                  <a:srgbClr val="FFFFFF"/>
                </a:solidFill>
                <a:latin typeface="Segoe UI"/>
              </a:rPr>
              <a:t>Category</a:t>
            </a:r>
          </a:p>
        </p:txBody>
      </p:sp>
      <p:sp>
        <p:nvSpPr>
          <p:cNvPr id="10" name="Rectangle 9"/>
          <p:cNvSpPr/>
          <p:nvPr/>
        </p:nvSpPr>
        <p:spPr>
          <a:xfrm>
            <a:off x="4142232" y="1463040"/>
            <a:ext cx="1508760" cy="384048"/>
          </a:xfrm>
          <a:prstGeom prst="rect">
            <a:avLst/>
          </a:prstGeom>
          <a:solidFill>
            <a:srgbClr val="0B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15384" y="1545336"/>
            <a:ext cx="1417319" cy="292607"/>
          </a:xfrm>
          <a:prstGeom prst="rect">
            <a:avLst/>
          </a:prstGeom>
          <a:noFill/>
        </p:spPr>
        <p:txBody>
          <a:bodyPr wrap="square">
            <a:spAutoFit/>
          </a:bodyPr>
          <a:lstStyle/>
          <a:p>
            <a:pPr algn="l">
              <a:spcBef>
                <a:spcPts val="0"/>
              </a:spcBef>
            </a:pPr>
            <a:r>
              <a:rPr sz="1000" b="1" i="0">
                <a:solidFill>
                  <a:srgbClr val="FFFFFF"/>
                </a:solidFill>
                <a:latin typeface="Segoe UI"/>
              </a:rPr>
              <a:t>Prophet Acc %</a:t>
            </a:r>
          </a:p>
        </p:txBody>
      </p:sp>
      <p:sp>
        <p:nvSpPr>
          <p:cNvPr id="12" name="Rectangle 11"/>
          <p:cNvSpPr/>
          <p:nvPr/>
        </p:nvSpPr>
        <p:spPr>
          <a:xfrm>
            <a:off x="5687568" y="1463040"/>
            <a:ext cx="1508760" cy="384048"/>
          </a:xfrm>
          <a:prstGeom prst="rect">
            <a:avLst/>
          </a:prstGeom>
          <a:solidFill>
            <a:srgbClr val="0B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0" y="1545336"/>
            <a:ext cx="1417319" cy="292607"/>
          </a:xfrm>
          <a:prstGeom prst="rect">
            <a:avLst/>
          </a:prstGeom>
          <a:noFill/>
        </p:spPr>
        <p:txBody>
          <a:bodyPr wrap="square">
            <a:spAutoFit/>
          </a:bodyPr>
          <a:lstStyle/>
          <a:p>
            <a:pPr algn="l">
              <a:spcBef>
                <a:spcPts val="0"/>
              </a:spcBef>
            </a:pPr>
            <a:r>
              <a:rPr sz="1000" b="1" i="0">
                <a:solidFill>
                  <a:srgbClr val="FFFFFF"/>
                </a:solidFill>
                <a:latin typeface="Segoe UI"/>
              </a:rPr>
              <a:t>XGBoost Acc %</a:t>
            </a:r>
          </a:p>
        </p:txBody>
      </p:sp>
      <p:sp>
        <p:nvSpPr>
          <p:cNvPr id="14" name="Rectangle 13"/>
          <p:cNvSpPr/>
          <p:nvPr/>
        </p:nvSpPr>
        <p:spPr>
          <a:xfrm>
            <a:off x="7232903" y="1463040"/>
            <a:ext cx="1280160" cy="384048"/>
          </a:xfrm>
          <a:prstGeom prst="rect">
            <a:avLst/>
          </a:prstGeom>
          <a:solidFill>
            <a:srgbClr val="0B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06055" y="1545336"/>
            <a:ext cx="1188719" cy="292607"/>
          </a:xfrm>
          <a:prstGeom prst="rect">
            <a:avLst/>
          </a:prstGeom>
          <a:noFill/>
        </p:spPr>
        <p:txBody>
          <a:bodyPr wrap="square">
            <a:spAutoFit/>
          </a:bodyPr>
          <a:lstStyle/>
          <a:p>
            <a:pPr algn="l">
              <a:spcBef>
                <a:spcPts val="0"/>
              </a:spcBef>
            </a:pPr>
            <a:r>
              <a:rPr sz="1000" b="1" i="0">
                <a:solidFill>
                  <a:srgbClr val="FFFFFF"/>
                </a:solidFill>
                <a:latin typeface="Segoe UI"/>
              </a:rPr>
              <a:t>Winner</a:t>
            </a:r>
          </a:p>
        </p:txBody>
      </p:sp>
      <p:sp>
        <p:nvSpPr>
          <p:cNvPr id="16" name="Rectangle 15"/>
          <p:cNvSpPr/>
          <p:nvPr/>
        </p:nvSpPr>
        <p:spPr>
          <a:xfrm>
            <a:off x="8549639" y="1463040"/>
            <a:ext cx="1325880" cy="384048"/>
          </a:xfrm>
          <a:prstGeom prst="rect">
            <a:avLst/>
          </a:prstGeom>
          <a:solidFill>
            <a:srgbClr val="0B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2791" y="1545336"/>
            <a:ext cx="1234439" cy="292607"/>
          </a:xfrm>
          <a:prstGeom prst="rect">
            <a:avLst/>
          </a:prstGeom>
          <a:noFill/>
        </p:spPr>
        <p:txBody>
          <a:bodyPr wrap="square">
            <a:spAutoFit/>
          </a:bodyPr>
          <a:lstStyle/>
          <a:p>
            <a:pPr algn="l">
              <a:spcBef>
                <a:spcPts val="0"/>
              </a:spcBef>
            </a:pPr>
            <a:r>
              <a:rPr sz="1000" b="1" i="0">
                <a:solidFill>
                  <a:srgbClr val="FFFFFF"/>
                </a:solidFill>
                <a:latin typeface="Segoe UI"/>
              </a:rPr>
              <a:t>RMSE (Best)</a:t>
            </a:r>
          </a:p>
        </p:txBody>
      </p:sp>
      <p:sp>
        <p:nvSpPr>
          <p:cNvPr id="18" name="Rectangle 17"/>
          <p:cNvSpPr/>
          <p:nvPr/>
        </p:nvSpPr>
        <p:spPr>
          <a:xfrm>
            <a:off x="502920" y="1847088"/>
            <a:ext cx="228600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 y="1929384"/>
            <a:ext cx="2194560" cy="292607"/>
          </a:xfrm>
          <a:prstGeom prst="rect">
            <a:avLst/>
          </a:prstGeom>
          <a:noFill/>
        </p:spPr>
        <p:txBody>
          <a:bodyPr wrap="square">
            <a:spAutoFit/>
          </a:bodyPr>
          <a:lstStyle/>
          <a:p>
            <a:pPr algn="l">
              <a:spcBef>
                <a:spcPts val="0"/>
              </a:spcBef>
            </a:pPr>
            <a:r>
              <a:rPr sz="1000" b="1" i="0">
                <a:solidFill>
                  <a:srgbClr val="0F172A"/>
                </a:solidFill>
                <a:latin typeface="Segoe UI"/>
              </a:rPr>
              <a:t>Pulse Moong</a:t>
            </a:r>
          </a:p>
        </p:txBody>
      </p:sp>
      <p:sp>
        <p:nvSpPr>
          <p:cNvPr id="20" name="Rectangle 19"/>
          <p:cNvSpPr/>
          <p:nvPr/>
        </p:nvSpPr>
        <p:spPr>
          <a:xfrm>
            <a:off x="2825496" y="1847088"/>
            <a:ext cx="128016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98648" y="1929384"/>
            <a:ext cx="1188719" cy="292607"/>
          </a:xfrm>
          <a:prstGeom prst="rect">
            <a:avLst/>
          </a:prstGeom>
          <a:noFill/>
        </p:spPr>
        <p:txBody>
          <a:bodyPr wrap="square">
            <a:spAutoFit/>
          </a:bodyPr>
          <a:lstStyle/>
          <a:p>
            <a:pPr algn="l">
              <a:spcBef>
                <a:spcPts val="0"/>
              </a:spcBef>
            </a:pPr>
            <a:r>
              <a:rPr sz="1000" b="0" i="0">
                <a:solidFill>
                  <a:srgbClr val="0F172A"/>
                </a:solidFill>
                <a:latin typeface="Segoe UI"/>
              </a:rPr>
              <a:t>Pulses</a:t>
            </a:r>
          </a:p>
        </p:txBody>
      </p:sp>
      <p:sp>
        <p:nvSpPr>
          <p:cNvPr id="22" name="Rectangle 21"/>
          <p:cNvSpPr/>
          <p:nvPr/>
        </p:nvSpPr>
        <p:spPr>
          <a:xfrm>
            <a:off x="4142232" y="1847088"/>
            <a:ext cx="150876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15384" y="1929384"/>
            <a:ext cx="1417319" cy="292607"/>
          </a:xfrm>
          <a:prstGeom prst="rect">
            <a:avLst/>
          </a:prstGeom>
          <a:noFill/>
        </p:spPr>
        <p:txBody>
          <a:bodyPr wrap="square">
            <a:spAutoFit/>
          </a:bodyPr>
          <a:lstStyle/>
          <a:p>
            <a:pPr algn="l">
              <a:spcBef>
                <a:spcPts val="0"/>
              </a:spcBef>
            </a:pPr>
            <a:r>
              <a:rPr sz="1000" b="0" i="0">
                <a:solidFill>
                  <a:srgbClr val="0F172A"/>
                </a:solidFill>
                <a:latin typeface="Segoe UI"/>
              </a:rPr>
              <a:t>94%</a:t>
            </a:r>
          </a:p>
        </p:txBody>
      </p:sp>
      <p:sp>
        <p:nvSpPr>
          <p:cNvPr id="24" name="Rectangle 23"/>
          <p:cNvSpPr/>
          <p:nvPr/>
        </p:nvSpPr>
        <p:spPr>
          <a:xfrm>
            <a:off x="5687568" y="1847088"/>
            <a:ext cx="150876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60720" y="1929384"/>
            <a:ext cx="1417319" cy="292607"/>
          </a:xfrm>
          <a:prstGeom prst="rect">
            <a:avLst/>
          </a:prstGeom>
          <a:noFill/>
        </p:spPr>
        <p:txBody>
          <a:bodyPr wrap="square">
            <a:spAutoFit/>
          </a:bodyPr>
          <a:lstStyle/>
          <a:p>
            <a:pPr algn="l">
              <a:spcBef>
                <a:spcPts val="0"/>
              </a:spcBef>
            </a:pPr>
            <a:r>
              <a:rPr sz="1000" b="0" i="0">
                <a:solidFill>
                  <a:srgbClr val="0F172A"/>
                </a:solidFill>
                <a:latin typeface="Segoe UI"/>
              </a:rPr>
              <a:t>98%</a:t>
            </a:r>
          </a:p>
        </p:txBody>
      </p:sp>
      <p:sp>
        <p:nvSpPr>
          <p:cNvPr id="26" name="Rectangle 25"/>
          <p:cNvSpPr/>
          <p:nvPr/>
        </p:nvSpPr>
        <p:spPr>
          <a:xfrm>
            <a:off x="7232903" y="1847088"/>
            <a:ext cx="128016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06055" y="1929384"/>
            <a:ext cx="1188719" cy="292607"/>
          </a:xfrm>
          <a:prstGeom prst="rect">
            <a:avLst/>
          </a:prstGeom>
          <a:noFill/>
        </p:spPr>
        <p:txBody>
          <a:bodyPr wrap="square">
            <a:spAutoFit/>
          </a:bodyPr>
          <a:lstStyle/>
          <a:p>
            <a:pPr algn="l">
              <a:spcBef>
                <a:spcPts val="0"/>
              </a:spcBef>
            </a:pPr>
            <a:r>
              <a:rPr sz="1000" b="1" i="0">
                <a:solidFill>
                  <a:srgbClr val="059669"/>
                </a:solidFill>
                <a:latin typeface="Segoe UI"/>
              </a:rPr>
              <a:t>XGBoost</a:t>
            </a:r>
          </a:p>
        </p:txBody>
      </p:sp>
      <p:sp>
        <p:nvSpPr>
          <p:cNvPr id="28" name="Rectangle 27"/>
          <p:cNvSpPr/>
          <p:nvPr/>
        </p:nvSpPr>
        <p:spPr>
          <a:xfrm>
            <a:off x="8549639" y="1847088"/>
            <a:ext cx="132588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22791" y="1929384"/>
            <a:ext cx="1234439" cy="292607"/>
          </a:xfrm>
          <a:prstGeom prst="rect">
            <a:avLst/>
          </a:prstGeom>
          <a:noFill/>
        </p:spPr>
        <p:txBody>
          <a:bodyPr wrap="square">
            <a:spAutoFit/>
          </a:bodyPr>
          <a:lstStyle/>
          <a:p>
            <a:pPr algn="l">
              <a:spcBef>
                <a:spcPts val="0"/>
              </a:spcBef>
            </a:pPr>
            <a:r>
              <a:rPr sz="1000" b="0" i="0">
                <a:solidFill>
                  <a:srgbClr val="0F172A"/>
                </a:solidFill>
                <a:latin typeface="Segoe UI"/>
              </a:rPr>
              <a:t>12.02</a:t>
            </a:r>
          </a:p>
        </p:txBody>
      </p:sp>
      <p:sp>
        <p:nvSpPr>
          <p:cNvPr id="30" name="Rectangle 29"/>
          <p:cNvSpPr/>
          <p:nvPr/>
        </p:nvSpPr>
        <p:spPr>
          <a:xfrm>
            <a:off x="502920" y="2231136"/>
            <a:ext cx="228600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6072" y="2313432"/>
            <a:ext cx="2194560" cy="292607"/>
          </a:xfrm>
          <a:prstGeom prst="rect">
            <a:avLst/>
          </a:prstGeom>
          <a:noFill/>
        </p:spPr>
        <p:txBody>
          <a:bodyPr wrap="square">
            <a:spAutoFit/>
          </a:bodyPr>
          <a:lstStyle/>
          <a:p>
            <a:pPr algn="l">
              <a:spcBef>
                <a:spcPts val="0"/>
              </a:spcBef>
            </a:pPr>
            <a:r>
              <a:rPr sz="1000" b="1" i="0">
                <a:solidFill>
                  <a:srgbClr val="0F172A"/>
                </a:solidFill>
                <a:latin typeface="Segoe UI"/>
              </a:rPr>
              <a:t>Pulse Mash</a:t>
            </a:r>
          </a:p>
        </p:txBody>
      </p:sp>
      <p:sp>
        <p:nvSpPr>
          <p:cNvPr id="32" name="Rectangle 31"/>
          <p:cNvSpPr/>
          <p:nvPr/>
        </p:nvSpPr>
        <p:spPr>
          <a:xfrm>
            <a:off x="2825496" y="2231136"/>
            <a:ext cx="128016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98648" y="2313432"/>
            <a:ext cx="1188719" cy="292607"/>
          </a:xfrm>
          <a:prstGeom prst="rect">
            <a:avLst/>
          </a:prstGeom>
          <a:noFill/>
        </p:spPr>
        <p:txBody>
          <a:bodyPr wrap="square">
            <a:spAutoFit/>
          </a:bodyPr>
          <a:lstStyle/>
          <a:p>
            <a:pPr algn="l">
              <a:spcBef>
                <a:spcPts val="0"/>
              </a:spcBef>
            </a:pPr>
            <a:r>
              <a:rPr sz="1000" b="0" i="0">
                <a:solidFill>
                  <a:srgbClr val="0F172A"/>
                </a:solidFill>
                <a:latin typeface="Segoe UI"/>
              </a:rPr>
              <a:t>Pulses</a:t>
            </a:r>
          </a:p>
        </p:txBody>
      </p:sp>
      <p:sp>
        <p:nvSpPr>
          <p:cNvPr id="34" name="Rectangle 33"/>
          <p:cNvSpPr/>
          <p:nvPr/>
        </p:nvSpPr>
        <p:spPr>
          <a:xfrm>
            <a:off x="4142232" y="2231136"/>
            <a:ext cx="150876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15384" y="2313432"/>
            <a:ext cx="1417319" cy="292607"/>
          </a:xfrm>
          <a:prstGeom prst="rect">
            <a:avLst/>
          </a:prstGeom>
          <a:noFill/>
        </p:spPr>
        <p:txBody>
          <a:bodyPr wrap="square">
            <a:spAutoFit/>
          </a:bodyPr>
          <a:lstStyle/>
          <a:p>
            <a:pPr algn="l">
              <a:spcBef>
                <a:spcPts val="0"/>
              </a:spcBef>
            </a:pPr>
            <a:r>
              <a:rPr sz="1000" b="0" i="0">
                <a:solidFill>
                  <a:srgbClr val="0F172A"/>
                </a:solidFill>
                <a:latin typeface="Segoe UI"/>
              </a:rPr>
              <a:t>79%</a:t>
            </a:r>
          </a:p>
        </p:txBody>
      </p:sp>
      <p:sp>
        <p:nvSpPr>
          <p:cNvPr id="36" name="Rectangle 35"/>
          <p:cNvSpPr/>
          <p:nvPr/>
        </p:nvSpPr>
        <p:spPr>
          <a:xfrm>
            <a:off x="5687568" y="2231136"/>
            <a:ext cx="150876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60720" y="2313432"/>
            <a:ext cx="1417319" cy="292607"/>
          </a:xfrm>
          <a:prstGeom prst="rect">
            <a:avLst/>
          </a:prstGeom>
          <a:noFill/>
        </p:spPr>
        <p:txBody>
          <a:bodyPr wrap="square">
            <a:spAutoFit/>
          </a:bodyPr>
          <a:lstStyle/>
          <a:p>
            <a:pPr algn="l">
              <a:spcBef>
                <a:spcPts val="0"/>
              </a:spcBef>
            </a:pPr>
            <a:r>
              <a:rPr sz="1000" b="0" i="0">
                <a:solidFill>
                  <a:srgbClr val="0F172A"/>
                </a:solidFill>
                <a:latin typeface="Segoe UI"/>
              </a:rPr>
              <a:t>94%</a:t>
            </a:r>
          </a:p>
        </p:txBody>
      </p:sp>
      <p:sp>
        <p:nvSpPr>
          <p:cNvPr id="38" name="Rectangle 37"/>
          <p:cNvSpPr/>
          <p:nvPr/>
        </p:nvSpPr>
        <p:spPr>
          <a:xfrm>
            <a:off x="7232903" y="2231136"/>
            <a:ext cx="128016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06055" y="2313432"/>
            <a:ext cx="1188719" cy="292607"/>
          </a:xfrm>
          <a:prstGeom prst="rect">
            <a:avLst/>
          </a:prstGeom>
          <a:noFill/>
        </p:spPr>
        <p:txBody>
          <a:bodyPr wrap="square">
            <a:spAutoFit/>
          </a:bodyPr>
          <a:lstStyle/>
          <a:p>
            <a:pPr algn="l">
              <a:spcBef>
                <a:spcPts val="0"/>
              </a:spcBef>
            </a:pPr>
            <a:r>
              <a:rPr sz="1000" b="1" i="0">
                <a:solidFill>
                  <a:srgbClr val="059669"/>
                </a:solidFill>
                <a:latin typeface="Segoe UI"/>
              </a:rPr>
              <a:t>XGBoost</a:t>
            </a:r>
          </a:p>
        </p:txBody>
      </p:sp>
      <p:sp>
        <p:nvSpPr>
          <p:cNvPr id="40" name="Rectangle 39"/>
          <p:cNvSpPr/>
          <p:nvPr/>
        </p:nvSpPr>
        <p:spPr>
          <a:xfrm>
            <a:off x="8549639" y="2231136"/>
            <a:ext cx="132588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22791" y="2313432"/>
            <a:ext cx="1234439" cy="292607"/>
          </a:xfrm>
          <a:prstGeom prst="rect">
            <a:avLst/>
          </a:prstGeom>
          <a:noFill/>
        </p:spPr>
        <p:txBody>
          <a:bodyPr wrap="square">
            <a:spAutoFit/>
          </a:bodyPr>
          <a:lstStyle/>
          <a:p>
            <a:pPr algn="l">
              <a:spcBef>
                <a:spcPts val="0"/>
              </a:spcBef>
            </a:pPr>
            <a:r>
              <a:rPr sz="1000" b="0" i="0">
                <a:solidFill>
                  <a:srgbClr val="0F172A"/>
                </a:solidFill>
                <a:latin typeface="Segoe UI"/>
              </a:rPr>
              <a:t>29.83</a:t>
            </a:r>
          </a:p>
        </p:txBody>
      </p:sp>
      <p:sp>
        <p:nvSpPr>
          <p:cNvPr id="42" name="Rectangle 41"/>
          <p:cNvSpPr/>
          <p:nvPr/>
        </p:nvSpPr>
        <p:spPr>
          <a:xfrm>
            <a:off x="502920" y="2615184"/>
            <a:ext cx="228600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6072" y="2697479"/>
            <a:ext cx="2194560" cy="292607"/>
          </a:xfrm>
          <a:prstGeom prst="rect">
            <a:avLst/>
          </a:prstGeom>
          <a:noFill/>
        </p:spPr>
        <p:txBody>
          <a:bodyPr wrap="square">
            <a:spAutoFit/>
          </a:bodyPr>
          <a:lstStyle/>
          <a:p>
            <a:pPr algn="l">
              <a:spcBef>
                <a:spcPts val="0"/>
              </a:spcBef>
            </a:pPr>
            <a:r>
              <a:rPr sz="1000" b="1" i="0">
                <a:solidFill>
                  <a:srgbClr val="0F172A"/>
                </a:solidFill>
                <a:latin typeface="Segoe UI"/>
              </a:rPr>
              <a:t>Pulse Masoor</a:t>
            </a:r>
          </a:p>
        </p:txBody>
      </p:sp>
      <p:sp>
        <p:nvSpPr>
          <p:cNvPr id="44" name="Rectangle 43"/>
          <p:cNvSpPr/>
          <p:nvPr/>
        </p:nvSpPr>
        <p:spPr>
          <a:xfrm>
            <a:off x="2825496" y="2615184"/>
            <a:ext cx="128016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98648" y="2697479"/>
            <a:ext cx="1188719" cy="292607"/>
          </a:xfrm>
          <a:prstGeom prst="rect">
            <a:avLst/>
          </a:prstGeom>
          <a:noFill/>
        </p:spPr>
        <p:txBody>
          <a:bodyPr wrap="square">
            <a:spAutoFit/>
          </a:bodyPr>
          <a:lstStyle/>
          <a:p>
            <a:pPr algn="l">
              <a:spcBef>
                <a:spcPts val="0"/>
              </a:spcBef>
            </a:pPr>
            <a:r>
              <a:rPr sz="1000" b="0" i="0">
                <a:solidFill>
                  <a:srgbClr val="0F172A"/>
                </a:solidFill>
                <a:latin typeface="Segoe UI"/>
              </a:rPr>
              <a:t>Pulses</a:t>
            </a:r>
          </a:p>
        </p:txBody>
      </p:sp>
      <p:sp>
        <p:nvSpPr>
          <p:cNvPr id="46" name="Rectangle 45"/>
          <p:cNvSpPr/>
          <p:nvPr/>
        </p:nvSpPr>
        <p:spPr>
          <a:xfrm>
            <a:off x="4142232" y="2615184"/>
            <a:ext cx="150876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215384" y="2697479"/>
            <a:ext cx="1417319" cy="292607"/>
          </a:xfrm>
          <a:prstGeom prst="rect">
            <a:avLst/>
          </a:prstGeom>
          <a:noFill/>
        </p:spPr>
        <p:txBody>
          <a:bodyPr wrap="square">
            <a:spAutoFit/>
          </a:bodyPr>
          <a:lstStyle/>
          <a:p>
            <a:pPr algn="l">
              <a:spcBef>
                <a:spcPts val="0"/>
              </a:spcBef>
            </a:pPr>
            <a:r>
              <a:rPr sz="1000" b="0" i="0">
                <a:solidFill>
                  <a:srgbClr val="0F172A"/>
                </a:solidFill>
                <a:latin typeface="Segoe UI"/>
              </a:rPr>
              <a:t>91%</a:t>
            </a:r>
          </a:p>
        </p:txBody>
      </p:sp>
      <p:sp>
        <p:nvSpPr>
          <p:cNvPr id="48" name="Rectangle 47"/>
          <p:cNvSpPr/>
          <p:nvPr/>
        </p:nvSpPr>
        <p:spPr>
          <a:xfrm>
            <a:off x="5687568" y="2615184"/>
            <a:ext cx="150876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760720" y="2697479"/>
            <a:ext cx="1417319" cy="292607"/>
          </a:xfrm>
          <a:prstGeom prst="rect">
            <a:avLst/>
          </a:prstGeom>
          <a:noFill/>
        </p:spPr>
        <p:txBody>
          <a:bodyPr wrap="square">
            <a:spAutoFit/>
          </a:bodyPr>
          <a:lstStyle/>
          <a:p>
            <a:pPr algn="l">
              <a:spcBef>
                <a:spcPts val="0"/>
              </a:spcBef>
            </a:pPr>
            <a:r>
              <a:rPr sz="1000" b="0" i="0">
                <a:solidFill>
                  <a:srgbClr val="0F172A"/>
                </a:solidFill>
                <a:latin typeface="Segoe UI"/>
              </a:rPr>
              <a:t>93%</a:t>
            </a:r>
          </a:p>
        </p:txBody>
      </p:sp>
      <p:sp>
        <p:nvSpPr>
          <p:cNvPr id="50" name="Rectangle 49"/>
          <p:cNvSpPr/>
          <p:nvPr/>
        </p:nvSpPr>
        <p:spPr>
          <a:xfrm>
            <a:off x="7232903" y="2615184"/>
            <a:ext cx="128016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06055" y="2697479"/>
            <a:ext cx="1188719" cy="292607"/>
          </a:xfrm>
          <a:prstGeom prst="rect">
            <a:avLst/>
          </a:prstGeom>
          <a:noFill/>
        </p:spPr>
        <p:txBody>
          <a:bodyPr wrap="square">
            <a:spAutoFit/>
          </a:bodyPr>
          <a:lstStyle/>
          <a:p>
            <a:pPr algn="l">
              <a:spcBef>
                <a:spcPts val="0"/>
              </a:spcBef>
            </a:pPr>
            <a:r>
              <a:rPr sz="1000" b="1" i="0">
                <a:solidFill>
                  <a:srgbClr val="059669"/>
                </a:solidFill>
                <a:latin typeface="Segoe UI"/>
              </a:rPr>
              <a:t>XGBoost</a:t>
            </a:r>
          </a:p>
        </p:txBody>
      </p:sp>
      <p:sp>
        <p:nvSpPr>
          <p:cNvPr id="52" name="Rectangle 51"/>
          <p:cNvSpPr/>
          <p:nvPr/>
        </p:nvSpPr>
        <p:spPr>
          <a:xfrm>
            <a:off x="8549639" y="2615184"/>
            <a:ext cx="132588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622791" y="2697479"/>
            <a:ext cx="1234439" cy="292607"/>
          </a:xfrm>
          <a:prstGeom prst="rect">
            <a:avLst/>
          </a:prstGeom>
          <a:noFill/>
        </p:spPr>
        <p:txBody>
          <a:bodyPr wrap="square">
            <a:spAutoFit/>
          </a:bodyPr>
          <a:lstStyle/>
          <a:p>
            <a:pPr algn="l">
              <a:spcBef>
                <a:spcPts val="0"/>
              </a:spcBef>
            </a:pPr>
            <a:r>
              <a:rPr sz="1000" b="0" i="0">
                <a:solidFill>
                  <a:srgbClr val="0F172A"/>
                </a:solidFill>
                <a:latin typeface="Segoe UI"/>
              </a:rPr>
              <a:t>17.75</a:t>
            </a:r>
          </a:p>
        </p:txBody>
      </p:sp>
      <p:sp>
        <p:nvSpPr>
          <p:cNvPr id="54" name="Rectangle 53"/>
          <p:cNvSpPr/>
          <p:nvPr/>
        </p:nvSpPr>
        <p:spPr>
          <a:xfrm>
            <a:off x="502920" y="2999232"/>
            <a:ext cx="228600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6072" y="3081528"/>
            <a:ext cx="2194560" cy="292607"/>
          </a:xfrm>
          <a:prstGeom prst="rect">
            <a:avLst/>
          </a:prstGeom>
          <a:noFill/>
        </p:spPr>
        <p:txBody>
          <a:bodyPr wrap="square">
            <a:spAutoFit/>
          </a:bodyPr>
          <a:lstStyle/>
          <a:p>
            <a:pPr algn="l">
              <a:spcBef>
                <a:spcPts val="0"/>
              </a:spcBef>
            </a:pPr>
            <a:r>
              <a:rPr sz="1000" b="1" i="0">
                <a:solidFill>
                  <a:srgbClr val="0F172A"/>
                </a:solidFill>
                <a:latin typeface="Segoe UI"/>
              </a:rPr>
              <a:t>Pulse Gram</a:t>
            </a:r>
          </a:p>
        </p:txBody>
      </p:sp>
      <p:sp>
        <p:nvSpPr>
          <p:cNvPr id="56" name="Rectangle 55"/>
          <p:cNvSpPr/>
          <p:nvPr/>
        </p:nvSpPr>
        <p:spPr>
          <a:xfrm>
            <a:off x="2825496" y="2999232"/>
            <a:ext cx="128016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898648" y="3081528"/>
            <a:ext cx="1188719" cy="292607"/>
          </a:xfrm>
          <a:prstGeom prst="rect">
            <a:avLst/>
          </a:prstGeom>
          <a:noFill/>
        </p:spPr>
        <p:txBody>
          <a:bodyPr wrap="square">
            <a:spAutoFit/>
          </a:bodyPr>
          <a:lstStyle/>
          <a:p>
            <a:pPr algn="l">
              <a:spcBef>
                <a:spcPts val="0"/>
              </a:spcBef>
            </a:pPr>
            <a:r>
              <a:rPr sz="1000" b="0" i="0">
                <a:solidFill>
                  <a:srgbClr val="0F172A"/>
                </a:solidFill>
                <a:latin typeface="Segoe UI"/>
              </a:rPr>
              <a:t>Pulses</a:t>
            </a:r>
          </a:p>
        </p:txBody>
      </p:sp>
      <p:sp>
        <p:nvSpPr>
          <p:cNvPr id="58" name="Rectangle 57"/>
          <p:cNvSpPr/>
          <p:nvPr/>
        </p:nvSpPr>
        <p:spPr>
          <a:xfrm>
            <a:off x="4142232" y="2999232"/>
            <a:ext cx="150876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15384" y="3081528"/>
            <a:ext cx="1417319" cy="292607"/>
          </a:xfrm>
          <a:prstGeom prst="rect">
            <a:avLst/>
          </a:prstGeom>
          <a:noFill/>
        </p:spPr>
        <p:txBody>
          <a:bodyPr wrap="square">
            <a:spAutoFit/>
          </a:bodyPr>
          <a:lstStyle/>
          <a:p>
            <a:pPr algn="l">
              <a:spcBef>
                <a:spcPts val="0"/>
              </a:spcBef>
            </a:pPr>
            <a:r>
              <a:rPr sz="1000" b="0" i="0">
                <a:solidFill>
                  <a:srgbClr val="0F172A"/>
                </a:solidFill>
                <a:latin typeface="Segoe UI"/>
              </a:rPr>
              <a:t>90%</a:t>
            </a:r>
          </a:p>
        </p:txBody>
      </p:sp>
      <p:sp>
        <p:nvSpPr>
          <p:cNvPr id="60" name="Rectangle 59"/>
          <p:cNvSpPr/>
          <p:nvPr/>
        </p:nvSpPr>
        <p:spPr>
          <a:xfrm>
            <a:off x="5687568" y="2999232"/>
            <a:ext cx="150876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760720" y="3081528"/>
            <a:ext cx="1417319" cy="292607"/>
          </a:xfrm>
          <a:prstGeom prst="rect">
            <a:avLst/>
          </a:prstGeom>
          <a:noFill/>
        </p:spPr>
        <p:txBody>
          <a:bodyPr wrap="square">
            <a:spAutoFit/>
          </a:bodyPr>
          <a:lstStyle/>
          <a:p>
            <a:pPr algn="l">
              <a:spcBef>
                <a:spcPts val="0"/>
              </a:spcBef>
            </a:pPr>
            <a:r>
              <a:rPr sz="1000" b="0" i="0">
                <a:solidFill>
                  <a:srgbClr val="0F172A"/>
                </a:solidFill>
                <a:latin typeface="Segoe UI"/>
              </a:rPr>
              <a:t>90%</a:t>
            </a:r>
          </a:p>
        </p:txBody>
      </p:sp>
      <p:sp>
        <p:nvSpPr>
          <p:cNvPr id="62" name="Rectangle 61"/>
          <p:cNvSpPr/>
          <p:nvPr/>
        </p:nvSpPr>
        <p:spPr>
          <a:xfrm>
            <a:off x="7232903" y="2999232"/>
            <a:ext cx="128016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06055" y="3081528"/>
            <a:ext cx="1188719" cy="292607"/>
          </a:xfrm>
          <a:prstGeom prst="rect">
            <a:avLst/>
          </a:prstGeom>
          <a:noFill/>
        </p:spPr>
        <p:txBody>
          <a:bodyPr wrap="square">
            <a:spAutoFit/>
          </a:bodyPr>
          <a:lstStyle/>
          <a:p>
            <a:pPr algn="l">
              <a:spcBef>
                <a:spcPts val="0"/>
              </a:spcBef>
            </a:pPr>
            <a:r>
              <a:rPr sz="1000" b="1" i="0">
                <a:solidFill>
                  <a:srgbClr val="2563EB"/>
                </a:solidFill>
                <a:latin typeface="Segoe UI"/>
              </a:rPr>
              <a:t>Prophet</a:t>
            </a:r>
          </a:p>
        </p:txBody>
      </p:sp>
      <p:sp>
        <p:nvSpPr>
          <p:cNvPr id="64" name="Rectangle 63"/>
          <p:cNvSpPr/>
          <p:nvPr/>
        </p:nvSpPr>
        <p:spPr>
          <a:xfrm>
            <a:off x="8549639" y="2999232"/>
            <a:ext cx="132588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622791" y="3081528"/>
            <a:ext cx="1234439" cy="292607"/>
          </a:xfrm>
          <a:prstGeom prst="rect">
            <a:avLst/>
          </a:prstGeom>
          <a:noFill/>
        </p:spPr>
        <p:txBody>
          <a:bodyPr wrap="square">
            <a:spAutoFit/>
          </a:bodyPr>
          <a:lstStyle/>
          <a:p>
            <a:pPr algn="l">
              <a:spcBef>
                <a:spcPts val="0"/>
              </a:spcBef>
            </a:pPr>
            <a:r>
              <a:rPr sz="1000" b="0" i="0">
                <a:solidFill>
                  <a:srgbClr val="0F172A"/>
                </a:solidFill>
                <a:latin typeface="Segoe UI"/>
              </a:rPr>
              <a:t>32.02</a:t>
            </a:r>
          </a:p>
        </p:txBody>
      </p:sp>
      <p:sp>
        <p:nvSpPr>
          <p:cNvPr id="66" name="Rectangle 65"/>
          <p:cNvSpPr/>
          <p:nvPr/>
        </p:nvSpPr>
        <p:spPr>
          <a:xfrm>
            <a:off x="502920" y="3383280"/>
            <a:ext cx="228600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76072" y="3465576"/>
            <a:ext cx="2194560" cy="292607"/>
          </a:xfrm>
          <a:prstGeom prst="rect">
            <a:avLst/>
          </a:prstGeom>
          <a:noFill/>
        </p:spPr>
        <p:txBody>
          <a:bodyPr wrap="square">
            <a:spAutoFit/>
          </a:bodyPr>
          <a:lstStyle/>
          <a:p>
            <a:pPr algn="l">
              <a:spcBef>
                <a:spcPts val="0"/>
              </a:spcBef>
            </a:pPr>
            <a:r>
              <a:rPr sz="1000" b="1" i="0">
                <a:solidFill>
                  <a:srgbClr val="0F172A"/>
                </a:solidFill>
                <a:latin typeface="Segoe UI"/>
              </a:rPr>
              <a:t>Tomatoes</a:t>
            </a:r>
          </a:p>
        </p:txBody>
      </p:sp>
      <p:sp>
        <p:nvSpPr>
          <p:cNvPr id="68" name="Rectangle 67"/>
          <p:cNvSpPr/>
          <p:nvPr/>
        </p:nvSpPr>
        <p:spPr>
          <a:xfrm>
            <a:off x="2825496" y="3383280"/>
            <a:ext cx="128016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98648" y="3465576"/>
            <a:ext cx="1188719" cy="292607"/>
          </a:xfrm>
          <a:prstGeom prst="rect">
            <a:avLst/>
          </a:prstGeom>
          <a:noFill/>
        </p:spPr>
        <p:txBody>
          <a:bodyPr wrap="square">
            <a:spAutoFit/>
          </a:bodyPr>
          <a:lstStyle/>
          <a:p>
            <a:pPr algn="l">
              <a:spcBef>
                <a:spcPts val="0"/>
              </a:spcBef>
            </a:pPr>
            <a:r>
              <a:rPr sz="1000" b="0" i="0">
                <a:solidFill>
                  <a:srgbClr val="0F172A"/>
                </a:solidFill>
                <a:latin typeface="Segoe UI"/>
              </a:rPr>
              <a:t>Vegetables</a:t>
            </a:r>
          </a:p>
        </p:txBody>
      </p:sp>
      <p:sp>
        <p:nvSpPr>
          <p:cNvPr id="70" name="Rectangle 69"/>
          <p:cNvSpPr/>
          <p:nvPr/>
        </p:nvSpPr>
        <p:spPr>
          <a:xfrm>
            <a:off x="4142232" y="3383280"/>
            <a:ext cx="150876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215384" y="3465576"/>
            <a:ext cx="1417319" cy="292607"/>
          </a:xfrm>
          <a:prstGeom prst="rect">
            <a:avLst/>
          </a:prstGeom>
          <a:noFill/>
        </p:spPr>
        <p:txBody>
          <a:bodyPr wrap="square">
            <a:spAutoFit/>
          </a:bodyPr>
          <a:lstStyle/>
          <a:p>
            <a:pPr algn="l">
              <a:spcBef>
                <a:spcPts val="0"/>
              </a:spcBef>
            </a:pPr>
            <a:r>
              <a:rPr sz="1000" b="0" i="0">
                <a:solidFill>
                  <a:srgbClr val="0F172A"/>
                </a:solidFill>
                <a:latin typeface="Segoe UI"/>
              </a:rPr>
              <a:t>52%</a:t>
            </a:r>
          </a:p>
        </p:txBody>
      </p:sp>
      <p:sp>
        <p:nvSpPr>
          <p:cNvPr id="72" name="Rectangle 71"/>
          <p:cNvSpPr/>
          <p:nvPr/>
        </p:nvSpPr>
        <p:spPr>
          <a:xfrm>
            <a:off x="5687568" y="3383280"/>
            <a:ext cx="150876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60720" y="3465576"/>
            <a:ext cx="1417319" cy="292607"/>
          </a:xfrm>
          <a:prstGeom prst="rect">
            <a:avLst/>
          </a:prstGeom>
          <a:noFill/>
        </p:spPr>
        <p:txBody>
          <a:bodyPr wrap="square">
            <a:spAutoFit/>
          </a:bodyPr>
          <a:lstStyle/>
          <a:p>
            <a:pPr algn="l">
              <a:spcBef>
                <a:spcPts val="0"/>
              </a:spcBef>
            </a:pPr>
            <a:r>
              <a:rPr sz="1000" b="0" i="0">
                <a:solidFill>
                  <a:srgbClr val="0F172A"/>
                </a:solidFill>
                <a:latin typeface="Segoe UI"/>
              </a:rPr>
              <a:t>80%</a:t>
            </a:r>
          </a:p>
        </p:txBody>
      </p:sp>
      <p:sp>
        <p:nvSpPr>
          <p:cNvPr id="74" name="Rectangle 73"/>
          <p:cNvSpPr/>
          <p:nvPr/>
        </p:nvSpPr>
        <p:spPr>
          <a:xfrm>
            <a:off x="7232903" y="3383280"/>
            <a:ext cx="128016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306055" y="3465576"/>
            <a:ext cx="1188719" cy="292607"/>
          </a:xfrm>
          <a:prstGeom prst="rect">
            <a:avLst/>
          </a:prstGeom>
          <a:noFill/>
        </p:spPr>
        <p:txBody>
          <a:bodyPr wrap="square">
            <a:spAutoFit/>
          </a:bodyPr>
          <a:lstStyle/>
          <a:p>
            <a:pPr algn="l">
              <a:spcBef>
                <a:spcPts val="0"/>
              </a:spcBef>
            </a:pPr>
            <a:r>
              <a:rPr sz="1000" b="1" i="0">
                <a:solidFill>
                  <a:srgbClr val="059669"/>
                </a:solidFill>
                <a:latin typeface="Segoe UI"/>
              </a:rPr>
              <a:t>XGBoost</a:t>
            </a:r>
          </a:p>
        </p:txBody>
      </p:sp>
      <p:sp>
        <p:nvSpPr>
          <p:cNvPr id="76" name="Rectangle 75"/>
          <p:cNvSpPr/>
          <p:nvPr/>
        </p:nvSpPr>
        <p:spPr>
          <a:xfrm>
            <a:off x="8549639" y="3383280"/>
            <a:ext cx="1325880" cy="38404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622791" y="3465576"/>
            <a:ext cx="1234439" cy="292607"/>
          </a:xfrm>
          <a:prstGeom prst="rect">
            <a:avLst/>
          </a:prstGeom>
          <a:noFill/>
        </p:spPr>
        <p:txBody>
          <a:bodyPr wrap="square">
            <a:spAutoFit/>
          </a:bodyPr>
          <a:lstStyle/>
          <a:p>
            <a:pPr algn="l">
              <a:spcBef>
                <a:spcPts val="0"/>
              </a:spcBef>
            </a:pPr>
            <a:r>
              <a:rPr sz="1000" b="0" i="0">
                <a:solidFill>
                  <a:srgbClr val="0F172A"/>
                </a:solidFill>
                <a:latin typeface="Segoe UI"/>
              </a:rPr>
              <a:t>59.52</a:t>
            </a:r>
          </a:p>
        </p:txBody>
      </p:sp>
      <p:sp>
        <p:nvSpPr>
          <p:cNvPr id="78" name="Rectangle 77"/>
          <p:cNvSpPr/>
          <p:nvPr/>
        </p:nvSpPr>
        <p:spPr>
          <a:xfrm>
            <a:off x="502920" y="3767328"/>
            <a:ext cx="228600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76072" y="3849624"/>
            <a:ext cx="2194560" cy="292607"/>
          </a:xfrm>
          <a:prstGeom prst="rect">
            <a:avLst/>
          </a:prstGeom>
          <a:noFill/>
        </p:spPr>
        <p:txBody>
          <a:bodyPr wrap="square">
            <a:spAutoFit/>
          </a:bodyPr>
          <a:lstStyle/>
          <a:p>
            <a:pPr algn="l">
              <a:spcBef>
                <a:spcPts val="0"/>
              </a:spcBef>
            </a:pPr>
            <a:r>
              <a:rPr sz="1000" b="1" i="0">
                <a:solidFill>
                  <a:srgbClr val="0F172A"/>
                </a:solidFill>
                <a:latin typeface="Segoe UI"/>
              </a:rPr>
              <a:t>Onions</a:t>
            </a:r>
          </a:p>
        </p:txBody>
      </p:sp>
      <p:sp>
        <p:nvSpPr>
          <p:cNvPr id="80" name="Rectangle 79"/>
          <p:cNvSpPr/>
          <p:nvPr/>
        </p:nvSpPr>
        <p:spPr>
          <a:xfrm>
            <a:off x="2825496" y="3767328"/>
            <a:ext cx="128016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898648" y="3849624"/>
            <a:ext cx="1188719" cy="292607"/>
          </a:xfrm>
          <a:prstGeom prst="rect">
            <a:avLst/>
          </a:prstGeom>
          <a:noFill/>
        </p:spPr>
        <p:txBody>
          <a:bodyPr wrap="square">
            <a:spAutoFit/>
          </a:bodyPr>
          <a:lstStyle/>
          <a:p>
            <a:pPr algn="l">
              <a:spcBef>
                <a:spcPts val="0"/>
              </a:spcBef>
            </a:pPr>
            <a:r>
              <a:rPr sz="1000" b="0" i="0">
                <a:solidFill>
                  <a:srgbClr val="0F172A"/>
                </a:solidFill>
                <a:latin typeface="Segoe UI"/>
              </a:rPr>
              <a:t>Vegetables</a:t>
            </a:r>
          </a:p>
        </p:txBody>
      </p:sp>
      <p:sp>
        <p:nvSpPr>
          <p:cNvPr id="82" name="Rectangle 81"/>
          <p:cNvSpPr/>
          <p:nvPr/>
        </p:nvSpPr>
        <p:spPr>
          <a:xfrm>
            <a:off x="4142232" y="3767328"/>
            <a:ext cx="150876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215384" y="3849624"/>
            <a:ext cx="1417319" cy="292607"/>
          </a:xfrm>
          <a:prstGeom prst="rect">
            <a:avLst/>
          </a:prstGeom>
          <a:noFill/>
        </p:spPr>
        <p:txBody>
          <a:bodyPr wrap="square">
            <a:spAutoFit/>
          </a:bodyPr>
          <a:lstStyle/>
          <a:p>
            <a:pPr algn="l">
              <a:spcBef>
                <a:spcPts val="0"/>
              </a:spcBef>
            </a:pPr>
            <a:r>
              <a:rPr sz="1000" b="0" i="0">
                <a:solidFill>
                  <a:srgbClr val="0F172A"/>
                </a:solidFill>
                <a:latin typeface="Segoe UI"/>
              </a:rPr>
              <a:t>42%</a:t>
            </a:r>
          </a:p>
        </p:txBody>
      </p:sp>
      <p:sp>
        <p:nvSpPr>
          <p:cNvPr id="84" name="Rectangle 83"/>
          <p:cNvSpPr/>
          <p:nvPr/>
        </p:nvSpPr>
        <p:spPr>
          <a:xfrm>
            <a:off x="5687568" y="3767328"/>
            <a:ext cx="150876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760720" y="3849624"/>
            <a:ext cx="1417319" cy="292607"/>
          </a:xfrm>
          <a:prstGeom prst="rect">
            <a:avLst/>
          </a:prstGeom>
          <a:noFill/>
        </p:spPr>
        <p:txBody>
          <a:bodyPr wrap="square">
            <a:spAutoFit/>
          </a:bodyPr>
          <a:lstStyle/>
          <a:p>
            <a:pPr algn="l">
              <a:spcBef>
                <a:spcPts val="0"/>
              </a:spcBef>
            </a:pPr>
            <a:r>
              <a:rPr sz="1000" b="0" i="0">
                <a:solidFill>
                  <a:srgbClr val="0F172A"/>
                </a:solidFill>
                <a:latin typeface="Segoe UI"/>
              </a:rPr>
              <a:t>71%</a:t>
            </a:r>
          </a:p>
        </p:txBody>
      </p:sp>
      <p:sp>
        <p:nvSpPr>
          <p:cNvPr id="86" name="Rectangle 85"/>
          <p:cNvSpPr/>
          <p:nvPr/>
        </p:nvSpPr>
        <p:spPr>
          <a:xfrm>
            <a:off x="7232903" y="3767328"/>
            <a:ext cx="128016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306055" y="3849624"/>
            <a:ext cx="1188719" cy="292607"/>
          </a:xfrm>
          <a:prstGeom prst="rect">
            <a:avLst/>
          </a:prstGeom>
          <a:noFill/>
        </p:spPr>
        <p:txBody>
          <a:bodyPr wrap="square">
            <a:spAutoFit/>
          </a:bodyPr>
          <a:lstStyle/>
          <a:p>
            <a:pPr algn="l">
              <a:spcBef>
                <a:spcPts val="0"/>
              </a:spcBef>
            </a:pPr>
            <a:r>
              <a:rPr sz="1000" b="1" i="0">
                <a:solidFill>
                  <a:srgbClr val="059669"/>
                </a:solidFill>
                <a:latin typeface="Segoe UI"/>
              </a:rPr>
              <a:t>XGBoost</a:t>
            </a:r>
          </a:p>
        </p:txBody>
      </p:sp>
      <p:sp>
        <p:nvSpPr>
          <p:cNvPr id="88" name="Rectangle 87"/>
          <p:cNvSpPr/>
          <p:nvPr/>
        </p:nvSpPr>
        <p:spPr>
          <a:xfrm>
            <a:off x="8549639" y="3767328"/>
            <a:ext cx="1325880" cy="384048"/>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622791" y="3849624"/>
            <a:ext cx="1234439" cy="292607"/>
          </a:xfrm>
          <a:prstGeom prst="rect">
            <a:avLst/>
          </a:prstGeom>
          <a:noFill/>
        </p:spPr>
        <p:txBody>
          <a:bodyPr wrap="square">
            <a:spAutoFit/>
          </a:bodyPr>
          <a:lstStyle/>
          <a:p>
            <a:pPr algn="l">
              <a:spcBef>
                <a:spcPts val="0"/>
              </a:spcBef>
            </a:pPr>
            <a:r>
              <a:rPr sz="1000" b="0" i="0">
                <a:solidFill>
                  <a:srgbClr val="0F172A"/>
                </a:solidFill>
                <a:latin typeface="Segoe UI"/>
              </a:rPr>
              <a:t>27.26</a:t>
            </a:r>
          </a:p>
        </p:txBody>
      </p:sp>
      <p:sp>
        <p:nvSpPr>
          <p:cNvPr id="90" name="Rectangle 89"/>
          <p:cNvSpPr/>
          <p:nvPr/>
        </p:nvSpPr>
        <p:spPr>
          <a:xfrm>
            <a:off x="502920" y="4151376"/>
            <a:ext cx="2286000" cy="384048"/>
          </a:xfrm>
          <a:prstGeom prst="rect">
            <a:avLst/>
          </a:prstGeom>
          <a:solidFill>
            <a:srgbClr val="FFFBE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6072" y="4233672"/>
            <a:ext cx="2194560" cy="292607"/>
          </a:xfrm>
          <a:prstGeom prst="rect">
            <a:avLst/>
          </a:prstGeom>
          <a:noFill/>
        </p:spPr>
        <p:txBody>
          <a:bodyPr wrap="square">
            <a:spAutoFit/>
          </a:bodyPr>
          <a:lstStyle/>
          <a:p>
            <a:pPr algn="l">
              <a:spcBef>
                <a:spcPts val="0"/>
              </a:spcBef>
            </a:pPr>
            <a:r>
              <a:rPr sz="1000" b="1" i="0">
                <a:solidFill>
                  <a:srgbClr val="0F172A"/>
                </a:solidFill>
                <a:latin typeface="Segoe UI"/>
              </a:rPr>
              <a:t>Potatoes</a:t>
            </a:r>
          </a:p>
        </p:txBody>
      </p:sp>
      <p:sp>
        <p:nvSpPr>
          <p:cNvPr id="92" name="Rectangle 91"/>
          <p:cNvSpPr/>
          <p:nvPr/>
        </p:nvSpPr>
        <p:spPr>
          <a:xfrm>
            <a:off x="2825496" y="4151376"/>
            <a:ext cx="1280160" cy="384048"/>
          </a:xfrm>
          <a:prstGeom prst="rect">
            <a:avLst/>
          </a:prstGeom>
          <a:solidFill>
            <a:srgbClr val="FFFBE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98648" y="4233672"/>
            <a:ext cx="1188719" cy="292607"/>
          </a:xfrm>
          <a:prstGeom prst="rect">
            <a:avLst/>
          </a:prstGeom>
          <a:noFill/>
        </p:spPr>
        <p:txBody>
          <a:bodyPr wrap="square">
            <a:spAutoFit/>
          </a:bodyPr>
          <a:lstStyle/>
          <a:p>
            <a:pPr algn="l">
              <a:spcBef>
                <a:spcPts val="0"/>
              </a:spcBef>
            </a:pPr>
            <a:r>
              <a:rPr sz="1000" b="0" i="0">
                <a:solidFill>
                  <a:srgbClr val="0F172A"/>
                </a:solidFill>
                <a:latin typeface="Segoe UI"/>
              </a:rPr>
              <a:t>Vegetables</a:t>
            </a:r>
          </a:p>
        </p:txBody>
      </p:sp>
      <p:sp>
        <p:nvSpPr>
          <p:cNvPr id="94" name="Rectangle 93"/>
          <p:cNvSpPr/>
          <p:nvPr/>
        </p:nvSpPr>
        <p:spPr>
          <a:xfrm>
            <a:off x="4142232" y="4151376"/>
            <a:ext cx="1508760" cy="384048"/>
          </a:xfrm>
          <a:prstGeom prst="rect">
            <a:avLst/>
          </a:prstGeom>
          <a:solidFill>
            <a:srgbClr val="FFFBE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215384" y="4233672"/>
            <a:ext cx="1417319" cy="292607"/>
          </a:xfrm>
          <a:prstGeom prst="rect">
            <a:avLst/>
          </a:prstGeom>
          <a:noFill/>
        </p:spPr>
        <p:txBody>
          <a:bodyPr wrap="square">
            <a:spAutoFit/>
          </a:bodyPr>
          <a:lstStyle/>
          <a:p>
            <a:pPr algn="l">
              <a:spcBef>
                <a:spcPts val="0"/>
              </a:spcBef>
            </a:pPr>
            <a:r>
              <a:rPr sz="1000" b="0" i="0">
                <a:solidFill>
                  <a:srgbClr val="0F172A"/>
                </a:solidFill>
                <a:latin typeface="Segoe UI"/>
              </a:rPr>
              <a:t>69%</a:t>
            </a:r>
          </a:p>
        </p:txBody>
      </p:sp>
      <p:sp>
        <p:nvSpPr>
          <p:cNvPr id="96" name="Rectangle 95"/>
          <p:cNvSpPr/>
          <p:nvPr/>
        </p:nvSpPr>
        <p:spPr>
          <a:xfrm>
            <a:off x="5687568" y="4151376"/>
            <a:ext cx="1508760" cy="384048"/>
          </a:xfrm>
          <a:prstGeom prst="rect">
            <a:avLst/>
          </a:prstGeom>
          <a:solidFill>
            <a:srgbClr val="FFFBE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760720" y="4233672"/>
            <a:ext cx="1417319" cy="292607"/>
          </a:xfrm>
          <a:prstGeom prst="rect">
            <a:avLst/>
          </a:prstGeom>
          <a:noFill/>
        </p:spPr>
        <p:txBody>
          <a:bodyPr wrap="square">
            <a:spAutoFit/>
          </a:bodyPr>
          <a:lstStyle/>
          <a:p>
            <a:pPr algn="l">
              <a:spcBef>
                <a:spcPts val="0"/>
              </a:spcBef>
            </a:pPr>
            <a:r>
              <a:rPr sz="1000" b="0" i="0">
                <a:solidFill>
                  <a:srgbClr val="DC2626"/>
                </a:solidFill>
                <a:latin typeface="Segoe UI"/>
              </a:rPr>
              <a:t>−28%</a:t>
            </a:r>
          </a:p>
        </p:txBody>
      </p:sp>
      <p:sp>
        <p:nvSpPr>
          <p:cNvPr id="98" name="Rectangle 97"/>
          <p:cNvSpPr/>
          <p:nvPr/>
        </p:nvSpPr>
        <p:spPr>
          <a:xfrm>
            <a:off x="7232903" y="4151376"/>
            <a:ext cx="1280160" cy="384048"/>
          </a:xfrm>
          <a:prstGeom prst="rect">
            <a:avLst/>
          </a:prstGeom>
          <a:solidFill>
            <a:srgbClr val="FFFBE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306055" y="4233672"/>
            <a:ext cx="1188719" cy="292607"/>
          </a:xfrm>
          <a:prstGeom prst="rect">
            <a:avLst/>
          </a:prstGeom>
          <a:noFill/>
        </p:spPr>
        <p:txBody>
          <a:bodyPr wrap="square">
            <a:spAutoFit/>
          </a:bodyPr>
          <a:lstStyle/>
          <a:p>
            <a:pPr algn="l">
              <a:spcBef>
                <a:spcPts val="0"/>
              </a:spcBef>
            </a:pPr>
            <a:r>
              <a:rPr sz="1000" b="1" i="0">
                <a:solidFill>
                  <a:srgbClr val="2563EB"/>
                </a:solidFill>
                <a:latin typeface="Segoe UI"/>
              </a:rPr>
              <a:t>Prophet</a:t>
            </a:r>
          </a:p>
        </p:txBody>
      </p:sp>
      <p:sp>
        <p:nvSpPr>
          <p:cNvPr id="100" name="Rectangle 99"/>
          <p:cNvSpPr/>
          <p:nvPr/>
        </p:nvSpPr>
        <p:spPr>
          <a:xfrm>
            <a:off x="8549639" y="4151376"/>
            <a:ext cx="1325880" cy="384048"/>
          </a:xfrm>
          <a:prstGeom prst="rect">
            <a:avLst/>
          </a:prstGeom>
          <a:solidFill>
            <a:srgbClr val="FFFBE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622791" y="4233672"/>
            <a:ext cx="1234439" cy="292607"/>
          </a:xfrm>
          <a:prstGeom prst="rect">
            <a:avLst/>
          </a:prstGeom>
          <a:noFill/>
        </p:spPr>
        <p:txBody>
          <a:bodyPr wrap="square">
            <a:spAutoFit/>
          </a:bodyPr>
          <a:lstStyle/>
          <a:p>
            <a:pPr algn="l">
              <a:spcBef>
                <a:spcPts val="0"/>
              </a:spcBef>
            </a:pPr>
            <a:r>
              <a:rPr sz="1000" b="0" i="0">
                <a:solidFill>
                  <a:srgbClr val="0F172A"/>
                </a:solidFill>
                <a:latin typeface="Segoe UI"/>
              </a:rPr>
              <a:t>16.80</a:t>
            </a:r>
          </a:p>
        </p:txBody>
      </p:sp>
      <p:sp>
        <p:nvSpPr>
          <p:cNvPr id="102" name="Rounded Rectangle 101"/>
          <p:cNvSpPr/>
          <p:nvPr/>
        </p:nvSpPr>
        <p:spPr>
          <a:xfrm>
            <a:off x="502920" y="4626864"/>
            <a:ext cx="11183112" cy="1298448"/>
          </a:xfrm>
          <a:prstGeom prst="roundRect">
            <a:avLst/>
          </a:prstGeom>
          <a:solidFill>
            <a:srgbClr val="FFF7ED"/>
          </a:solidFill>
          <a:ln w="1270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31520" y="4700016"/>
            <a:ext cx="10881360" cy="1143000"/>
          </a:xfrm>
          <a:prstGeom prst="rect">
            <a:avLst/>
          </a:prstGeom>
          <a:noFill/>
        </p:spPr>
        <p:txBody>
          <a:bodyPr wrap="square">
            <a:spAutoFit/>
          </a:bodyPr>
          <a:lstStyle/>
          <a:p>
            <a:pPr algn="l">
              <a:spcBef>
                <a:spcPts val="0"/>
              </a:spcBef>
            </a:pPr>
            <a:r>
              <a:rPr sz="1150" b="1" i="0">
                <a:solidFill>
                  <a:srgbClr val="D97706"/>
                </a:solidFill>
                <a:latin typeface="Segoe UI"/>
              </a:rPr>
              <a:t>★  The Potato Anomaly  (XGBoost −28% Accuracy)</a:t>
            </a:r>
          </a:p>
          <a:p>
            <a:pPr algn="l">
              <a:spcBef>
                <a:spcPts val="400"/>
              </a:spcBef>
            </a:pPr>
            <a:r>
              <a:rPr sz="1050" b="0" i="0">
                <a:solidFill>
                  <a:srgbClr val="78350F"/>
                </a:solidFill>
                <a:latin typeface="Segoe UI"/>
              </a:rPr>
              <a:t>XGBoost's recursive multi-step roll compounded errors during a steep post-harvest crash (Rs 115 → Rs 31/kg), producing 127.9% MAPE. Prophet's Fourier sinusoidal wave naturally respected the seasonal trough — scoring 69%. This confirmed that dynamic model routing (no single winner) is mandatory.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1005840"/>
          </a:xfrm>
          <a:prstGeom prst="rect">
            <a:avLst/>
          </a:prstGeom>
          <a:noFill/>
        </p:spPr>
        <p:txBody>
          <a:bodyPr wrap="square">
            <a:spAutoFit/>
          </a:bodyPr>
          <a:lstStyle/>
          <a:p>
            <a:pPr algn="l">
              <a:spcBef>
                <a:spcPts val="0"/>
              </a:spcBef>
            </a:pPr>
            <a:r>
              <a:rPr sz="2400" b="1" i="0">
                <a:solidFill>
                  <a:srgbClr val="FFFFFF"/>
                </a:solidFill>
                <a:latin typeface="Segoe UI"/>
              </a:rPr>
              <a:t>Conclusion &amp; Operational Impact</a:t>
            </a:r>
          </a:p>
          <a:p>
            <a:pPr algn="l">
              <a:spcBef>
                <a:spcPts val="800"/>
              </a:spcBef>
            </a:pPr>
            <a:r>
              <a:rPr sz="1200" b="0" i="0">
                <a:solidFill>
                  <a:srgbClr val="93C5FD"/>
                </a:solidFill>
                <a:latin typeface="Segoe UI"/>
              </a:rPr>
              <a:t>ForecastBI transforms static government statistics into proactive, 12-month commodity price intelligence.</a:t>
            </a:r>
          </a:p>
        </p:txBody>
      </p:sp>
      <p:sp>
        <p:nvSpPr>
          <p:cNvPr id="4" name="Rectangle 3"/>
          <p:cNvSpPr/>
          <p:nvPr/>
        </p:nvSpPr>
        <p:spPr>
          <a:xfrm>
            <a:off x="502920" y="1353312"/>
            <a:ext cx="11183112" cy="152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463040"/>
            <a:ext cx="5468112" cy="2359152"/>
          </a:xfrm>
          <a:prstGeom prst="roundRect">
            <a:avLst/>
          </a:prstGeom>
          <a:solidFill>
            <a:srgbClr val="12203C"/>
          </a:solidFill>
          <a:ln w="1016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463040"/>
            <a:ext cx="5468112" cy="502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581912"/>
            <a:ext cx="5212080" cy="2176272"/>
          </a:xfrm>
          <a:prstGeom prst="rect">
            <a:avLst/>
          </a:prstGeom>
          <a:noFill/>
        </p:spPr>
        <p:txBody>
          <a:bodyPr wrap="square">
            <a:spAutoFit/>
          </a:bodyPr>
          <a:lstStyle/>
          <a:p>
            <a:pPr algn="l">
              <a:spcBef>
                <a:spcPts val="0"/>
              </a:spcBef>
            </a:pPr>
            <a:r>
              <a:rPr sz="1300" b="1" i="0">
                <a:solidFill>
                  <a:srgbClr val="FFFFFF"/>
                </a:solidFill>
                <a:latin typeface="Segoe UI"/>
              </a:rPr>
              <a:t>Automated Ingestion</a:t>
            </a:r>
          </a:p>
          <a:p>
            <a:pPr algn="l">
              <a:spcBef>
                <a:spcPts val="1000"/>
              </a:spcBef>
            </a:pPr>
            <a:r>
              <a:rPr sz="1050" b="0" i="0">
                <a:solidFill>
                  <a:srgbClr val="CBD5E1"/>
                </a:solidFill>
                <a:latin typeface="Segoe UI"/>
              </a:rPr>
              <a:t>Eliminates manual collection. Hybrid XLSX/PDF parser compiles 60 months of PBS price bulletins automatically with full audit logging.</a:t>
            </a:r>
          </a:p>
        </p:txBody>
      </p:sp>
      <p:sp>
        <p:nvSpPr>
          <p:cNvPr id="8" name="Rounded Rectangle 7"/>
          <p:cNvSpPr/>
          <p:nvPr/>
        </p:nvSpPr>
        <p:spPr>
          <a:xfrm>
            <a:off x="6108192" y="1463040"/>
            <a:ext cx="5468112" cy="2359152"/>
          </a:xfrm>
          <a:prstGeom prst="roundRect">
            <a:avLst/>
          </a:prstGeom>
          <a:solidFill>
            <a:srgbClr val="12203C"/>
          </a:solidFill>
          <a:ln w="1016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08192" y="1463040"/>
            <a:ext cx="5468112" cy="5029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2783" y="1581912"/>
            <a:ext cx="5212080" cy="2176272"/>
          </a:xfrm>
          <a:prstGeom prst="rect">
            <a:avLst/>
          </a:prstGeom>
          <a:noFill/>
        </p:spPr>
        <p:txBody>
          <a:bodyPr wrap="square">
            <a:spAutoFit/>
          </a:bodyPr>
          <a:lstStyle/>
          <a:p>
            <a:pPr algn="l">
              <a:spcBef>
                <a:spcPts val="0"/>
              </a:spcBef>
            </a:pPr>
            <a:r>
              <a:rPr sz="1300" b="1" i="0">
                <a:solidFill>
                  <a:srgbClr val="FFFFFF"/>
                </a:solidFill>
                <a:latin typeface="Segoe UI"/>
              </a:rPr>
              <a:t>Forward Visibility</a:t>
            </a:r>
          </a:p>
          <a:p>
            <a:pPr algn="l">
              <a:spcBef>
                <a:spcPts val="1000"/>
              </a:spcBef>
            </a:pPr>
            <a:r>
              <a:rPr sz="1050" b="0" i="0">
                <a:solidFill>
                  <a:srgbClr val="CBD5E1"/>
                </a:solidFill>
                <a:latin typeface="Segoe UI"/>
              </a:rPr>
              <a:t>12-month forecasts per commodity give procurement teams and policymakers lead time to act before inflationary spikes occur.</a:t>
            </a:r>
          </a:p>
        </p:txBody>
      </p:sp>
      <p:sp>
        <p:nvSpPr>
          <p:cNvPr id="11" name="Rounded Rectangle 10"/>
          <p:cNvSpPr/>
          <p:nvPr/>
        </p:nvSpPr>
        <p:spPr>
          <a:xfrm>
            <a:off x="502920" y="4005072"/>
            <a:ext cx="5468112" cy="2359152"/>
          </a:xfrm>
          <a:prstGeom prst="roundRect">
            <a:avLst/>
          </a:prstGeom>
          <a:solidFill>
            <a:srgbClr val="12203C"/>
          </a:solidFill>
          <a:ln w="1016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4005072"/>
            <a:ext cx="5468112" cy="502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4123944"/>
            <a:ext cx="5212080" cy="2176272"/>
          </a:xfrm>
          <a:prstGeom prst="rect">
            <a:avLst/>
          </a:prstGeom>
          <a:noFill/>
        </p:spPr>
        <p:txBody>
          <a:bodyPr wrap="square">
            <a:spAutoFit/>
          </a:bodyPr>
          <a:lstStyle/>
          <a:p>
            <a:pPr algn="l">
              <a:spcBef>
                <a:spcPts val="0"/>
              </a:spcBef>
            </a:pPr>
            <a:r>
              <a:rPr sz="1300" b="1" i="0">
                <a:solidFill>
                  <a:srgbClr val="FFFFFF"/>
                </a:solidFill>
                <a:latin typeface="Segoe UI"/>
              </a:rPr>
              <a:t>Empirical Model Routing</a:t>
            </a:r>
          </a:p>
          <a:p>
            <a:pPr algn="l">
              <a:spcBef>
                <a:spcPts val="1000"/>
              </a:spcBef>
            </a:pPr>
            <a:r>
              <a:rPr sz="1050" b="0" i="0">
                <a:solidFill>
                  <a:srgbClr val="CBD5E1"/>
                </a:solidFill>
                <a:latin typeface="Segoe UI"/>
              </a:rPr>
              <a:t>Benchmark proves no single model wins universally. Dynamic routing (Prophet or XGBoost per item) maximizes forecast accuracy across all 7 commodities.</a:t>
            </a:r>
          </a:p>
        </p:txBody>
      </p:sp>
      <p:sp>
        <p:nvSpPr>
          <p:cNvPr id="14" name="Rounded Rectangle 13"/>
          <p:cNvSpPr/>
          <p:nvPr/>
        </p:nvSpPr>
        <p:spPr>
          <a:xfrm>
            <a:off x="6108192" y="4005072"/>
            <a:ext cx="5468112" cy="2359152"/>
          </a:xfrm>
          <a:prstGeom prst="roundRect">
            <a:avLst/>
          </a:prstGeom>
          <a:solidFill>
            <a:srgbClr val="12203C"/>
          </a:solidFill>
          <a:ln w="1016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08192" y="4005072"/>
            <a:ext cx="5468112" cy="50292"/>
          </a:xfrm>
          <a:prstGeom prst="rect">
            <a:avLst/>
          </a:prstGeom>
          <a:solidFill>
            <a:srgbClr val="38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2783" y="4123944"/>
            <a:ext cx="5212080" cy="2176272"/>
          </a:xfrm>
          <a:prstGeom prst="rect">
            <a:avLst/>
          </a:prstGeom>
          <a:noFill/>
        </p:spPr>
        <p:txBody>
          <a:bodyPr wrap="square">
            <a:spAutoFit/>
          </a:bodyPr>
          <a:lstStyle/>
          <a:p>
            <a:pPr algn="l">
              <a:spcBef>
                <a:spcPts val="0"/>
              </a:spcBef>
            </a:pPr>
            <a:r>
              <a:rPr sz="1300" b="1" i="0">
                <a:solidFill>
                  <a:srgbClr val="FFFFFF"/>
                </a:solidFill>
                <a:latin typeface="Segoe UI"/>
              </a:rPr>
              <a:t>Geospatial Price Intelligence</a:t>
            </a:r>
          </a:p>
          <a:p>
            <a:pPr algn="l">
              <a:spcBef>
                <a:spcPts val="1000"/>
              </a:spcBef>
            </a:pPr>
            <a:r>
              <a:rPr sz="1050" b="0" i="0">
                <a:solidFill>
                  <a:srgbClr val="CBD5E1"/>
                </a:solidFill>
                <a:latin typeface="Segoe UI"/>
              </a:rPr>
              <a:t>City-level price hierarchy (Islamabad vs. Bannu) reveals arbitrage opportunities and regional logistics optimization potential across 17 commercial centers.</a:t>
            </a:r>
          </a:p>
        </p:txBody>
      </p:sp>
      <p:sp>
        <p:nvSpPr>
          <p:cNvPr id="17" name="Rectangle 16"/>
          <p:cNvSpPr/>
          <p:nvPr/>
        </p:nvSpPr>
        <p:spPr>
          <a:xfrm>
            <a:off x="0" y="6629400"/>
            <a:ext cx="12191695" cy="228600"/>
          </a:xfrm>
          <a:prstGeom prst="rect">
            <a:avLst/>
          </a:prstGeom>
          <a:solidFill>
            <a:srgbClr val="12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647688"/>
            <a:ext cx="11183112" cy="201168"/>
          </a:xfrm>
          <a:prstGeom prst="rect">
            <a:avLst/>
          </a:prstGeom>
          <a:noFill/>
        </p:spPr>
        <p:txBody>
          <a:bodyPr wrap="square">
            <a:spAutoFit/>
          </a:bodyPr>
          <a:lstStyle/>
          <a:p>
            <a:pPr algn="ctr">
              <a:spcBef>
                <a:spcPts val="0"/>
              </a:spcBef>
            </a:pPr>
            <a:r>
              <a:rPr sz="850" b="0" i="0">
                <a:solidFill>
                  <a:srgbClr val="64748B"/>
                </a:solidFill>
                <a:latin typeface="Segoe UI"/>
              </a:rPr>
              <a:t>ForecastBI  ·  Pakistan Bureau of Statistics (PBS)  ·  Machine Learning &amp; Power BI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