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1E2A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B556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Potatoes</c:v>
                  </c:pt>
                  <c:pt idx="1">
                    <c:v>Onions</c:v>
                  </c:pt>
                  <c:pt idx="2">
                    <c:v>Tomatoes</c:v>
                  </c:pt>
                  <c:pt idx="3">
                    <c:v>Pulse Gram</c:v>
                  </c:pt>
                  <c:pt idx="4">
                    <c:v>Pulse Masoor</c:v>
                  </c:pt>
                  <c:pt idx="5">
                    <c:v>Pulse Mash</c:v>
                  </c:pt>
                  <c:pt idx="6">
                    <c:v>Pulse Moong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-28</c:v>
                </c:pt>
                <c:pt idx="1">
                  <c:v>71</c:v>
                </c:pt>
                <c:pt idx="2">
                  <c:v>80</c:v>
                </c:pt>
                <c:pt idx="3">
                  <c:v>90</c:v>
                </c:pt>
                <c:pt idx="4">
                  <c:v>93</c:v>
                </c:pt>
                <c:pt idx="5">
                  <c:v>94</c:v>
                </c:pt>
                <c:pt idx="6">
                  <c:v>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Prophet</c:v>
                </c:pt>
              </c:strCache>
            </c:strRef>
          </c:tx>
          <c:spPr>
            <a:solidFill>
              <a:srgbClr val="D98E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B556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Potatoes</c:v>
                  </c:pt>
                  <c:pt idx="1">
                    <c:v>Onions</c:v>
                  </c:pt>
                  <c:pt idx="2">
                    <c:v>Tomatoes</c:v>
                  </c:pt>
                  <c:pt idx="3">
                    <c:v>Pulse Gram</c:v>
                  </c:pt>
                  <c:pt idx="4">
                    <c:v>Pulse Masoor</c:v>
                  </c:pt>
                  <c:pt idx="5">
                    <c:v>Pulse Mash</c:v>
                  </c:pt>
                  <c:pt idx="6">
                    <c:v>Pulse Moong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69</c:v>
                </c:pt>
                <c:pt idx="1">
                  <c:v>42</c:v>
                </c:pt>
                <c:pt idx="2">
                  <c:v>52</c:v>
                </c:pt>
                <c:pt idx="3">
                  <c:v>90</c:v>
                </c:pt>
                <c:pt idx="4">
                  <c:v>91</c:v>
                </c:pt>
                <c:pt idx="5">
                  <c:v>79</c:v>
                </c:pt>
                <c:pt idx="6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B556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-40"/>
        </c:scaling>
        <c:delete val="0"/>
        <c:axPos val="b"/>
        <c:majorGridlines>
          <c:spPr>
            <a:ln w="9525" cap="flat">
              <a:solidFill>
                <a:srgbClr val="E2E6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32471" y="5751576"/>
            <a:ext cx="312928" cy="420624"/>
          </a:xfrm>
          <a:prstGeom prst="rect">
            <a:avLst/>
          </a:prstGeom>
          <a:solidFill>
            <a:srgbClr val="222D52"/>
          </a:solidFill>
          <a:ln/>
        </p:spPr>
      </p:sp>
      <p:sp>
        <p:nvSpPr>
          <p:cNvPr id="3" name="Shape 1"/>
          <p:cNvSpPr/>
          <p:nvPr/>
        </p:nvSpPr>
        <p:spPr>
          <a:xfrm>
            <a:off x="8179511" y="5593842"/>
            <a:ext cx="312928" cy="578358"/>
          </a:xfrm>
          <a:prstGeom prst="rect">
            <a:avLst/>
          </a:prstGeom>
          <a:solidFill>
            <a:srgbClr val="222D52"/>
          </a:solidFill>
          <a:ln/>
        </p:spPr>
      </p:sp>
      <p:sp>
        <p:nvSpPr>
          <p:cNvPr id="4" name="Shape 2"/>
          <p:cNvSpPr/>
          <p:nvPr/>
        </p:nvSpPr>
        <p:spPr>
          <a:xfrm>
            <a:off x="8626551" y="5667451"/>
            <a:ext cx="312928" cy="504749"/>
          </a:xfrm>
          <a:prstGeom prst="rect">
            <a:avLst/>
          </a:prstGeom>
          <a:solidFill>
            <a:srgbClr val="222D52"/>
          </a:solidFill>
          <a:ln/>
        </p:spPr>
      </p:sp>
      <p:sp>
        <p:nvSpPr>
          <p:cNvPr id="5" name="Shape 3"/>
          <p:cNvSpPr/>
          <p:nvPr/>
        </p:nvSpPr>
        <p:spPr>
          <a:xfrm>
            <a:off x="9073591" y="5457139"/>
            <a:ext cx="312928" cy="715061"/>
          </a:xfrm>
          <a:prstGeom prst="rect">
            <a:avLst/>
          </a:prstGeom>
          <a:solidFill>
            <a:srgbClr val="222D52"/>
          </a:solidFill>
          <a:ln/>
        </p:spPr>
      </p:sp>
      <p:sp>
        <p:nvSpPr>
          <p:cNvPr id="6" name="Shape 4"/>
          <p:cNvSpPr/>
          <p:nvPr/>
        </p:nvSpPr>
        <p:spPr>
          <a:xfrm>
            <a:off x="9520631" y="5541264"/>
            <a:ext cx="312928" cy="630936"/>
          </a:xfrm>
          <a:prstGeom prst="rect">
            <a:avLst/>
          </a:prstGeom>
          <a:solidFill>
            <a:srgbClr val="222D52"/>
          </a:solidFill>
          <a:ln/>
        </p:spPr>
      </p:sp>
      <p:sp>
        <p:nvSpPr>
          <p:cNvPr id="7" name="Shape 5"/>
          <p:cNvSpPr/>
          <p:nvPr/>
        </p:nvSpPr>
        <p:spPr>
          <a:xfrm>
            <a:off x="9967671" y="5330952"/>
            <a:ext cx="312928" cy="841248"/>
          </a:xfrm>
          <a:prstGeom prst="rect">
            <a:avLst/>
          </a:prstGeom>
          <a:solidFill>
            <a:srgbClr val="222D52"/>
          </a:solidFill>
          <a:ln/>
        </p:spPr>
      </p:sp>
      <p:sp>
        <p:nvSpPr>
          <p:cNvPr id="8" name="Shape 6"/>
          <p:cNvSpPr/>
          <p:nvPr/>
        </p:nvSpPr>
        <p:spPr>
          <a:xfrm>
            <a:off x="10414711" y="5415077"/>
            <a:ext cx="312928" cy="757123"/>
          </a:xfrm>
          <a:prstGeom prst="rect">
            <a:avLst/>
          </a:prstGeom>
          <a:solidFill>
            <a:srgbClr val="222D52"/>
          </a:solidFill>
          <a:ln/>
        </p:spPr>
      </p:sp>
      <p:sp>
        <p:nvSpPr>
          <p:cNvPr id="9" name="Shape 7"/>
          <p:cNvSpPr/>
          <p:nvPr/>
        </p:nvSpPr>
        <p:spPr>
          <a:xfrm>
            <a:off x="10861751" y="5204765"/>
            <a:ext cx="312928" cy="967435"/>
          </a:xfrm>
          <a:prstGeom prst="rect">
            <a:avLst/>
          </a:prstGeom>
          <a:solidFill>
            <a:srgbClr val="222D52"/>
          </a:solidFill>
          <a:ln/>
        </p:spPr>
      </p:sp>
      <p:sp>
        <p:nvSpPr>
          <p:cNvPr id="10" name="Shape 8"/>
          <p:cNvSpPr/>
          <p:nvPr/>
        </p:nvSpPr>
        <p:spPr>
          <a:xfrm>
            <a:off x="11308791" y="5120640"/>
            <a:ext cx="312928" cy="1051560"/>
          </a:xfrm>
          <a:prstGeom prst="rect">
            <a:avLst/>
          </a:prstGeom>
          <a:solidFill>
            <a:srgbClr val="222D52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8745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98E2E"/>
          </a:solidFill>
          <a:ln/>
        </p:spPr>
      </p:sp>
      <p:pic>
        <p:nvPicPr>
          <p:cNvPr id="12" name="Image 0" descr="/home/claude/icons/arrow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93392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80160" y="18105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4400" b="1">
                <a:solidFill>
                  <a:srgbClr val="FFFFFF"/>
                </a:solidFill>
                <a:latin typeface="Cambria"/>
              </a:rPr>
              <a:t>ForecastBI: Data Science Project</a:t>
            </a:r>
          </a:p>
        </p:txBody>
      </p:sp>
      <p:sp>
        <p:nvSpPr>
          <p:cNvPr id="14" name="Text 11"/>
          <p:cNvSpPr/>
          <p:nvPr/>
        </p:nvSpPr>
        <p:spPr>
          <a:xfrm>
            <a:off x="502920" y="26700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000">
                <a:solidFill>
                  <a:srgbClr val="8FB4E8"/>
                </a:solidFill>
                <a:latin typeface="Calibri"/>
              </a:rPr>
              <a:t>End-to-End Time Series Forecasting &amp; BI Analytics</a:t>
            </a:r>
          </a:p>
        </p:txBody>
      </p:sp>
      <p:sp>
        <p:nvSpPr>
          <p:cNvPr id="15" name="Text 12"/>
          <p:cNvSpPr/>
          <p:nvPr/>
        </p:nvSpPr>
        <p:spPr>
          <a:xfrm>
            <a:off x="502920" y="3182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>
                <a:solidFill>
                  <a:srgbClr val="C9D2E3"/>
                </a:solidFill>
                <a:latin typeface="Calibri"/>
              </a:rPr>
              <a:t>Web Scraping • Machine Learning • Power BI</a:t>
            </a:r>
          </a:p>
        </p:txBody>
      </p:sp>
      <p:sp>
        <p:nvSpPr>
          <p:cNvPr id="16" name="Shape 13"/>
          <p:cNvSpPr/>
          <p:nvPr/>
        </p:nvSpPr>
        <p:spPr>
          <a:xfrm>
            <a:off x="502920" y="3977640"/>
            <a:ext cx="2960827" cy="402336"/>
          </a:xfrm>
          <a:prstGeom prst="roundRect">
            <a:avLst>
              <a:gd name="adj" fmla="val 50000"/>
            </a:avLst>
          </a:prstGeom>
          <a:solidFill>
            <a:srgbClr val="202C50"/>
          </a:solidFill>
          <a:ln w="12700">
            <a:solidFill>
              <a:srgbClr val="3440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977640"/>
            <a:ext cx="29608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50">
                <a:solidFill>
                  <a:srgbClr val="FFFFFF"/>
                </a:solidFill>
                <a:latin typeface="Calibri"/>
              </a:rPr>
              <a:t>5 Years of PBS Data</a:t>
            </a:r>
          </a:p>
        </p:txBody>
      </p:sp>
      <p:sp>
        <p:nvSpPr>
          <p:cNvPr id="18" name="Shape 15"/>
          <p:cNvSpPr/>
          <p:nvPr/>
        </p:nvSpPr>
        <p:spPr>
          <a:xfrm>
            <a:off x="3664915" y="3977640"/>
            <a:ext cx="2039112" cy="402336"/>
          </a:xfrm>
          <a:prstGeom prst="roundRect">
            <a:avLst>
              <a:gd name="adj" fmla="val 50000"/>
            </a:avLst>
          </a:prstGeom>
          <a:solidFill>
            <a:srgbClr val="202C50"/>
          </a:solidFill>
          <a:ln w="12700">
            <a:solidFill>
              <a:srgbClr val="3440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64915" y="3977640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50">
                <a:solidFill>
                  <a:srgbClr val="FFFFFF"/>
                </a:solidFill>
                <a:latin typeface="Calibri"/>
              </a:rPr>
              <a:t>17 Major Cities</a:t>
            </a:r>
          </a:p>
        </p:txBody>
      </p:sp>
      <p:sp>
        <p:nvSpPr>
          <p:cNvPr id="20" name="Shape 17"/>
          <p:cNvSpPr/>
          <p:nvPr/>
        </p:nvSpPr>
        <p:spPr>
          <a:xfrm>
            <a:off x="5905195" y="3977640"/>
            <a:ext cx="1962302" cy="402336"/>
          </a:xfrm>
          <a:prstGeom prst="roundRect">
            <a:avLst>
              <a:gd name="adj" fmla="val 50000"/>
            </a:avLst>
          </a:prstGeom>
          <a:solidFill>
            <a:srgbClr val="202C50"/>
          </a:solidFill>
          <a:ln w="12700">
            <a:solidFill>
              <a:srgbClr val="34406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05195" y="3977640"/>
            <a:ext cx="1962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50">
                <a:solidFill>
                  <a:srgbClr val="FFFFFF"/>
                </a:solidFill>
                <a:latin typeface="Calibri"/>
              </a:rPr>
              <a:t>Prophet vs. XGBoost</a:t>
            </a:r>
          </a:p>
        </p:txBody>
      </p:sp>
      <p:sp>
        <p:nvSpPr>
          <p:cNvPr id="22" name="Text 19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ForecastBI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>
                <a:solidFill>
                  <a:srgbClr val="D98E2E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>
                <a:solidFill>
                  <a:srgbClr val="1E2A4D"/>
                </a:solidFill>
                <a:latin typeface="Cambria"/>
              </a:rPr>
              <a:t>Project Background &amp; Context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0">
                <a:solidFill>
                  <a:srgbClr val="4B5563"/>
                </a:solidFill>
                <a:latin typeface="Calibri"/>
              </a:rPr>
              <a:t>A data science project built to analyze and forecast government commodity prices.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85855" cy="0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788920"/>
            <a:ext cx="351525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3044952"/>
            <a:ext cx="457200" cy="457200"/>
          </a:xfrm>
          <a:prstGeom prst="ellipse">
            <a:avLst/>
          </a:prstGeom>
          <a:solidFill>
            <a:srgbClr val="1E2A4D"/>
          </a:solidFill>
          <a:ln/>
        </p:spPr>
      </p:sp>
      <p:pic>
        <p:nvPicPr>
          <p:cNvPr id="8" name="Image 0" descr="/home/claude/icons/seedl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314553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62456" y="3026664"/>
            <a:ext cx="2399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50" b="1">
                <a:solidFill>
                  <a:srgbClr val="1E2A4D"/>
                </a:solidFill>
                <a:latin typeface="Cambria"/>
              </a:rPr>
              <a:t>The Goal</a:t>
            </a:r>
          </a:p>
        </p:txBody>
      </p:sp>
      <p:sp>
        <p:nvSpPr>
          <p:cNvPr id="10" name="Text 7"/>
          <p:cNvSpPr/>
          <p:nvPr/>
        </p:nvSpPr>
        <p:spPr>
          <a:xfrm>
            <a:off x="758952" y="3630168"/>
            <a:ext cx="300319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4B5563"/>
                </a:solidFill>
                <a:latin typeface="Calibri"/>
              </a:rPr>
              <a:t>To build a complete data pipeline from scratch—extracting raw government data, training machine learning models, and visualizing the results.</a:t>
            </a:r>
          </a:p>
        </p:txBody>
      </p:sp>
      <p:sp>
        <p:nvSpPr>
          <p:cNvPr id="11" name="Shape 8"/>
          <p:cNvSpPr/>
          <p:nvPr/>
        </p:nvSpPr>
        <p:spPr>
          <a:xfrm>
            <a:off x="4338218" y="2788920"/>
            <a:ext cx="351525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4250" y="3044952"/>
            <a:ext cx="457200" cy="457200"/>
          </a:xfrm>
          <a:prstGeom prst="ellipse">
            <a:avLst/>
          </a:prstGeom>
          <a:solidFill>
            <a:srgbClr val="1E2A4D"/>
          </a:solidFill>
          <a:ln/>
        </p:spPr>
      </p:sp>
      <p:pic>
        <p:nvPicPr>
          <p:cNvPr id="13" name="Image 1" descr="/home/claude/icons/bask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834" y="314553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7754" y="3026664"/>
            <a:ext cx="2399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50" b="1">
                <a:solidFill>
                  <a:srgbClr val="1E2A4D"/>
                </a:solidFill>
                <a:latin typeface="Cambria"/>
              </a:rPr>
              <a:t>Dataset Scope</a:t>
            </a:r>
          </a:p>
        </p:txBody>
      </p:sp>
      <p:sp>
        <p:nvSpPr>
          <p:cNvPr id="15" name="Text 11"/>
          <p:cNvSpPr/>
          <p:nvPr/>
        </p:nvSpPr>
        <p:spPr>
          <a:xfrm>
            <a:off x="4594250" y="3630168"/>
            <a:ext cx="300319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 b="1">
                <a:solidFill>
                  <a:srgbClr val="4B5563"/>
                </a:solidFill>
                <a:latin typeface="Calibri"/>
              </a:rPr>
              <a:t>7 Commodities: Tomatoes, Onions, Potatoes, and 4 Pulses (Moong, Masoor, Gram, Mash).</a:t>
            </a:r>
          </a:p>
        </p:txBody>
      </p:sp>
      <p:sp>
        <p:nvSpPr>
          <p:cNvPr id="16" name="Shape 12"/>
          <p:cNvSpPr/>
          <p:nvPr/>
        </p:nvSpPr>
        <p:spPr>
          <a:xfrm>
            <a:off x="8173517" y="2788920"/>
            <a:ext cx="351525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29549" y="3044952"/>
            <a:ext cx="457200" cy="457200"/>
          </a:xfrm>
          <a:prstGeom prst="ellipse">
            <a:avLst/>
          </a:prstGeom>
          <a:solidFill>
            <a:srgbClr val="1E2A4D"/>
          </a:solidFill>
          <a:ln/>
        </p:spPr>
      </p:sp>
      <p:pic>
        <p:nvPicPr>
          <p:cNvPr id="18" name="Image 2" descr="/home/claude/icons/mapmarke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133" y="314553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33053" y="3026664"/>
            <a:ext cx="2399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50" b="1">
                <a:solidFill>
                  <a:srgbClr val="1E2A4D"/>
                </a:solidFill>
                <a:latin typeface="Cambria"/>
              </a:rPr>
              <a:t>Geographic Scope</a:t>
            </a:r>
          </a:p>
        </p:txBody>
      </p:sp>
      <p:sp>
        <p:nvSpPr>
          <p:cNvPr id="20" name="Text 15"/>
          <p:cNvSpPr/>
          <p:nvPr/>
        </p:nvSpPr>
        <p:spPr>
          <a:xfrm>
            <a:off x="8429549" y="3630168"/>
            <a:ext cx="300319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4B5563"/>
                </a:solidFill>
                <a:latin typeface="Calibri"/>
              </a:rPr>
              <a:t>Over 5 years of historical retail price data covering 17 major cities in Pakistan.</a:t>
            </a:r>
          </a:p>
        </p:txBody>
      </p:sp>
      <p:sp>
        <p:nvSpPr>
          <p:cNvPr id="21" name="Text 16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ForecastBI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>
                <a:solidFill>
                  <a:srgbClr val="D98E2E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>
                <a:solidFill>
                  <a:srgbClr val="1E2A4D"/>
                </a:solidFill>
                <a:latin typeface="Cambria"/>
              </a:rPr>
              <a:t>Project Objectives &amp; Scope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0">
                <a:solidFill>
                  <a:srgbClr val="4B5563"/>
                </a:solidFill>
                <a:latin typeface="Calibri"/>
              </a:rPr>
              <a:t>What we set out to build and the technical milestones we aimed to achieve.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85855" cy="0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628900"/>
            <a:ext cx="3515258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884932"/>
            <a:ext cx="457200" cy="457200"/>
          </a:xfrm>
          <a:prstGeom prst="ellipse">
            <a:avLst/>
          </a:prstGeom>
          <a:solidFill>
            <a:srgbClr val="1E2A4D"/>
          </a:solidFill>
          <a:ln/>
        </p:spPr>
      </p:sp>
      <p:pic>
        <p:nvPicPr>
          <p:cNvPr id="8" name="Image 0" descr="/home/claude/icons/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98551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62456" y="2866644"/>
            <a:ext cx="2399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50" b="1">
                <a:solidFill>
                  <a:srgbClr val="1E2A4D"/>
                </a:solidFill>
                <a:latin typeface="Cambria"/>
              </a:rPr>
              <a:t>1. Data Acquisition</a:t>
            </a:r>
          </a:p>
        </p:txBody>
      </p:sp>
      <p:sp>
        <p:nvSpPr>
          <p:cNvPr id="10" name="Text 7"/>
          <p:cNvSpPr/>
          <p:nvPr/>
        </p:nvSpPr>
        <p:spPr>
          <a:xfrm>
            <a:off x="758952" y="3470148"/>
            <a:ext cx="300319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4B5563"/>
                </a:solidFill>
                <a:latin typeface="Calibri"/>
              </a:rPr>
              <a:t>Programmatically scrape and compile 5 years of monthly historical data from the Pakistan Bureau of Statistics (PBS).</a:t>
            </a:r>
          </a:p>
        </p:txBody>
      </p:sp>
      <p:sp>
        <p:nvSpPr>
          <p:cNvPr id="11" name="Shape 8"/>
          <p:cNvSpPr/>
          <p:nvPr/>
        </p:nvSpPr>
        <p:spPr>
          <a:xfrm>
            <a:off x="4338218" y="2628900"/>
            <a:ext cx="3515258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4250" y="2884932"/>
            <a:ext cx="457200" cy="457200"/>
          </a:xfrm>
          <a:prstGeom prst="ellipse">
            <a:avLst/>
          </a:prstGeom>
          <a:solidFill>
            <a:srgbClr val="1E2A4D"/>
          </a:solidFill>
          <a:ln/>
        </p:spPr>
      </p:sp>
      <p:pic>
        <p:nvPicPr>
          <p:cNvPr id="13" name="Image 1" descr="/home/claude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834" y="298551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7754" y="2866644"/>
            <a:ext cx="2399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50" b="1">
                <a:solidFill>
                  <a:srgbClr val="1E2A4D"/>
                </a:solidFill>
                <a:latin typeface="Cambria"/>
              </a:rPr>
              <a:t>2. Predictive Modeling</a:t>
            </a:r>
          </a:p>
        </p:txBody>
      </p:sp>
      <p:sp>
        <p:nvSpPr>
          <p:cNvPr id="15" name="Text 11"/>
          <p:cNvSpPr/>
          <p:nvPr/>
        </p:nvSpPr>
        <p:spPr>
          <a:xfrm>
            <a:off x="4594250" y="3470148"/>
            <a:ext cx="300319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4B5563"/>
                </a:solidFill>
                <a:latin typeface="Calibri"/>
              </a:rPr>
              <a:t>Engineer features and train machine learning models to forecast prices 12 months into the future.</a:t>
            </a:r>
          </a:p>
        </p:txBody>
      </p:sp>
      <p:sp>
        <p:nvSpPr>
          <p:cNvPr id="16" name="Shape 12"/>
          <p:cNvSpPr/>
          <p:nvPr/>
        </p:nvSpPr>
        <p:spPr>
          <a:xfrm>
            <a:off x="8173517" y="2628900"/>
            <a:ext cx="3515258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29549" y="2884932"/>
            <a:ext cx="457200" cy="457200"/>
          </a:xfrm>
          <a:prstGeom prst="ellipse">
            <a:avLst/>
          </a:prstGeom>
          <a:solidFill>
            <a:srgbClr val="1E2A4D"/>
          </a:solidFill>
          <a:ln/>
        </p:spPr>
      </p:sp>
      <p:pic>
        <p:nvPicPr>
          <p:cNvPr id="18" name="Image 2" descr="/home/claude/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133" y="298551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33053" y="2866644"/>
            <a:ext cx="2399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50" b="1">
                <a:solidFill>
                  <a:srgbClr val="1E2A4D"/>
                </a:solidFill>
                <a:latin typeface="Cambria"/>
              </a:rPr>
              <a:t>3. Data Visualization</a:t>
            </a:r>
          </a:p>
        </p:txBody>
      </p:sp>
      <p:sp>
        <p:nvSpPr>
          <p:cNvPr id="20" name="Text 15"/>
          <p:cNvSpPr/>
          <p:nvPr/>
        </p:nvSpPr>
        <p:spPr>
          <a:xfrm>
            <a:off x="8429549" y="3470148"/>
            <a:ext cx="300319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4B5563"/>
                </a:solidFill>
                <a:latin typeface="Calibri"/>
              </a:rPr>
              <a:t>Develop an interactive Power BI dashboard to showcase model accuracy, historical trends, and future forecasts.</a:t>
            </a:r>
          </a:p>
        </p:txBody>
      </p:sp>
      <p:sp>
        <p:nvSpPr>
          <p:cNvPr id="21" name="Text 16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ForecastBI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>
                <a:solidFill>
                  <a:srgbClr val="D98E2E"/>
                </a:solidFill>
                <a:latin typeface="Calibri"/>
              </a:rPr>
              <a:t>PROBLEMS FACED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>
                <a:solidFill>
                  <a:srgbClr val="1E2A4D"/>
                </a:solidFill>
                <a:latin typeface="Cambria"/>
              </a:rPr>
              <a:t>Data Preparation &amp; Development Challenges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0">
                <a:solidFill>
                  <a:srgbClr val="4B5563"/>
                </a:solidFill>
                <a:latin typeface="Calibri"/>
              </a:rPr>
              <a:t>The real-world technical obstacles we encountered while building the data pipeline.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85855" cy="0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14600"/>
            <a:ext cx="2604440" cy="3063240"/>
          </a:xfrm>
          <a:prstGeom prst="roundRect">
            <a:avLst>
              <a:gd name="adj" fmla="val 4213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0664" y="2752344"/>
            <a:ext cx="420624" cy="420624"/>
          </a:xfrm>
          <a:prstGeom prst="ellipse">
            <a:avLst/>
          </a:prstGeom>
          <a:solidFill>
            <a:srgbClr val="1E2A4D"/>
          </a:solidFill>
          <a:ln/>
        </p:spPr>
      </p:sp>
      <p:pic>
        <p:nvPicPr>
          <p:cNvPr id="8" name="Image 0" descr="/home/claude/icons/co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843784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0664" y="3264408"/>
            <a:ext cx="2128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50" b="1">
                <a:solidFill>
                  <a:srgbClr val="1E2A4D"/>
                </a:solidFill>
                <a:latin typeface="Cambria"/>
              </a:rPr>
              <a:t>Challenge 1: Hidden Data Links</a:t>
            </a:r>
          </a:p>
        </p:txBody>
      </p:sp>
      <p:sp>
        <p:nvSpPr>
          <p:cNvPr id="10" name="Text 7"/>
          <p:cNvSpPr/>
          <p:nvPr/>
        </p:nvSpPr>
        <p:spPr>
          <a:xfrm>
            <a:off x="740664" y="3776472"/>
            <a:ext cx="212895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4B5563"/>
                </a:solidFill>
                <a:latin typeface="Calibri"/>
              </a:rPr>
              <a:t>Standard web scrapers failed because the PBS website injected the file download links dynamically using client-side JavaScript.</a:t>
            </a:r>
          </a:p>
        </p:txBody>
      </p:sp>
      <p:sp>
        <p:nvSpPr>
          <p:cNvPr id="11" name="Shape 8"/>
          <p:cNvSpPr/>
          <p:nvPr/>
        </p:nvSpPr>
        <p:spPr>
          <a:xfrm>
            <a:off x="3363392" y="2514600"/>
            <a:ext cx="2604440" cy="3063240"/>
          </a:xfrm>
          <a:prstGeom prst="roundRect">
            <a:avLst>
              <a:gd name="adj" fmla="val 4213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01136" y="2752344"/>
            <a:ext cx="420624" cy="420624"/>
          </a:xfrm>
          <a:prstGeom prst="ellipse">
            <a:avLst/>
          </a:prstGeom>
          <a:solidFill>
            <a:srgbClr val="1E2A4D"/>
          </a:solidFill>
          <a:ln/>
        </p:spPr>
      </p:sp>
      <p:pic>
        <p:nvPicPr>
          <p:cNvPr id="13" name="Image 1" descr="/home/claude/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576" y="2843784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01136" y="3264408"/>
            <a:ext cx="2128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50" b="1">
                <a:solidFill>
                  <a:srgbClr val="1E2A4D"/>
                </a:solidFill>
                <a:latin typeface="Cambria"/>
              </a:rPr>
              <a:t>Challenge 2: Chaotic File Formats</a:t>
            </a:r>
          </a:p>
        </p:txBody>
      </p:sp>
      <p:sp>
        <p:nvSpPr>
          <p:cNvPr id="15" name="Text 11"/>
          <p:cNvSpPr/>
          <p:nvPr/>
        </p:nvSpPr>
        <p:spPr>
          <a:xfrm>
            <a:off x="3601136" y="3776472"/>
            <a:ext cx="212895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4B5563"/>
                </a:solidFill>
                <a:latin typeface="Calibri"/>
              </a:rPr>
              <a:t>The historical reports were not standardized. We had to deal with modern Excel files (.xlsx), legacy Excel files (.xls), and unstructured PDFs.</a:t>
            </a:r>
          </a:p>
        </p:txBody>
      </p:sp>
      <p:sp>
        <p:nvSpPr>
          <p:cNvPr id="16" name="Shape 12"/>
          <p:cNvSpPr/>
          <p:nvPr/>
        </p:nvSpPr>
        <p:spPr>
          <a:xfrm>
            <a:off x="6223864" y="2514600"/>
            <a:ext cx="2604440" cy="3063240"/>
          </a:xfrm>
          <a:prstGeom prst="roundRect">
            <a:avLst>
              <a:gd name="adj" fmla="val 4213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61608" y="2752344"/>
            <a:ext cx="420624" cy="420624"/>
          </a:xfrm>
          <a:prstGeom prst="ellipse">
            <a:avLst/>
          </a:prstGeom>
          <a:solidFill>
            <a:srgbClr val="1E2A4D"/>
          </a:solidFill>
          <a:ln/>
        </p:spPr>
      </p:sp>
      <p:pic>
        <p:nvPicPr>
          <p:cNvPr id="18" name="Image 2" descr="/home/claude/icons/calend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284378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1608" y="3264408"/>
            <a:ext cx="2128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50" b="1">
                <a:solidFill>
                  <a:srgbClr val="1E2A4D"/>
                </a:solidFill>
                <a:latin typeface="Cambria"/>
              </a:rPr>
              <a:t>Challenge 3: Missing &amp; Broken Data</a:t>
            </a:r>
          </a:p>
        </p:txBody>
      </p:sp>
      <p:sp>
        <p:nvSpPr>
          <p:cNvPr id="20" name="Text 15"/>
          <p:cNvSpPr/>
          <p:nvPr/>
        </p:nvSpPr>
        <p:spPr>
          <a:xfrm>
            <a:off x="6461608" y="3776472"/>
            <a:ext cx="212895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4B5563"/>
                </a:solidFill>
                <a:latin typeface="Calibri"/>
              </a:rPr>
              <a:t>Several months had broken URLs, empty cells, or missing national average values that would break a standard ML pipeline.</a:t>
            </a:r>
          </a:p>
        </p:txBody>
      </p:sp>
      <p:sp>
        <p:nvSpPr>
          <p:cNvPr id="21" name="Shape 16"/>
          <p:cNvSpPr/>
          <p:nvPr/>
        </p:nvSpPr>
        <p:spPr>
          <a:xfrm>
            <a:off x="9084335" y="2514600"/>
            <a:ext cx="2604440" cy="3063240"/>
          </a:xfrm>
          <a:prstGeom prst="roundRect">
            <a:avLst>
              <a:gd name="adj" fmla="val 4213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22079" y="2752344"/>
            <a:ext cx="420624" cy="420624"/>
          </a:xfrm>
          <a:prstGeom prst="ellipse">
            <a:avLst/>
          </a:prstGeom>
          <a:solidFill>
            <a:srgbClr val="1E2A4D"/>
          </a:solidFill>
          <a:ln/>
        </p:spPr>
      </p:sp>
      <p:pic>
        <p:nvPicPr>
          <p:cNvPr id="23" name="Image 3" descr="/home/claude/icons/chartb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519" y="2843784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22079" y="3264408"/>
            <a:ext cx="2128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/>
        </p:txBody>
      </p:sp>
      <p:sp>
        <p:nvSpPr>
          <p:cNvPr id="25" name="Text 19"/>
          <p:cNvSpPr/>
          <p:nvPr/>
        </p:nvSpPr>
        <p:spPr>
          <a:xfrm>
            <a:off x="9322079" y="3776472"/>
            <a:ext cx="212895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/>
        </p:txBody>
      </p:sp>
      <p:sp>
        <p:nvSpPr>
          <p:cNvPr id="26" name="Text 20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ForecastBI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>
                <a:solidFill>
                  <a:srgbClr val="D98E2E"/>
                </a:solidFill>
                <a:latin typeface="Calibri"/>
              </a:rPr>
              <a:t>SOLUTION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>
                <a:solidFill>
                  <a:srgbClr val="1E2A4D"/>
                </a:solidFill>
                <a:latin typeface="Cambria"/>
              </a:rPr>
              <a:t>Overcoming the Development Issues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0">
                <a:solidFill>
                  <a:srgbClr val="4B5563"/>
                </a:solidFill>
                <a:latin typeface="Calibri"/>
              </a:rPr>
              <a:t>How we engineered our way out of the data collection roadblocks.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85855" cy="0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11185855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0664" y="2066544"/>
            <a:ext cx="420624" cy="420624"/>
          </a:xfrm>
          <a:prstGeom prst="ellipse">
            <a:avLst/>
          </a:prstGeom>
          <a:solidFill>
            <a:srgbClr val="D98E2E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80744" y="1874520"/>
            <a:ext cx="100702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50" b="1">
                <a:solidFill>
                  <a:srgbClr val="1E2A4D"/>
                </a:solidFill>
                <a:latin typeface="Cambria"/>
              </a:rPr>
              <a:t>Bypassing JavaScript Execution</a:t>
            </a:r>
          </a:p>
        </p:txBody>
      </p:sp>
      <p:sp>
        <p:nvSpPr>
          <p:cNvPr id="10" name="Text 8"/>
          <p:cNvSpPr/>
          <p:nvPr/>
        </p:nvSpPr>
        <p:spPr>
          <a:xfrm>
            <a:off x="1380744" y="2167128"/>
            <a:ext cx="1007028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4B5563"/>
                </a:solidFill>
                <a:latin typeface="Calibri"/>
              </a:rPr>
              <a:t>Instead of using slow headless browsers like Selenium, we used regular expressions and chompjs to parse the raw JavaScript variables directly in under 2 seconds.</a:t>
            </a:r>
          </a:p>
        </p:txBody>
      </p:sp>
      <p:sp>
        <p:nvSpPr>
          <p:cNvPr id="11" name="Shape 9"/>
          <p:cNvSpPr/>
          <p:nvPr/>
        </p:nvSpPr>
        <p:spPr>
          <a:xfrm>
            <a:off x="502920" y="2953512"/>
            <a:ext cx="11185855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0664" y="3236976"/>
            <a:ext cx="420624" cy="420624"/>
          </a:xfrm>
          <a:prstGeom prst="ellipse">
            <a:avLst/>
          </a:prstGeom>
          <a:solidFill>
            <a:srgbClr val="D98E2E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80744" y="3044952"/>
            <a:ext cx="100702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50" b="1">
                <a:solidFill>
                  <a:srgbClr val="1E2A4D"/>
                </a:solidFill>
                <a:latin typeface="Cambria"/>
              </a:rPr>
              <a:t>Dual-Engine Document Parser</a:t>
            </a:r>
          </a:p>
        </p:txBody>
      </p:sp>
      <p:sp>
        <p:nvSpPr>
          <p:cNvPr id="15" name="Text 13"/>
          <p:cNvSpPr/>
          <p:nvPr/>
        </p:nvSpPr>
        <p:spPr>
          <a:xfrm>
            <a:off x="1380744" y="3337560"/>
            <a:ext cx="1007028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4B5563"/>
                </a:solidFill>
                <a:latin typeface="Calibri"/>
              </a:rPr>
              <a:t>We built a custom parser combining openpyxl for Excel files and pypdf with regex tokenizers to extract data line-by-line from PDFs.</a:t>
            </a:r>
          </a:p>
        </p:txBody>
      </p:sp>
      <p:sp>
        <p:nvSpPr>
          <p:cNvPr id="16" name="Shape 14"/>
          <p:cNvSpPr/>
          <p:nvPr/>
        </p:nvSpPr>
        <p:spPr>
          <a:xfrm>
            <a:off x="502920" y="4123944"/>
            <a:ext cx="11185855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0664" y="4407408"/>
            <a:ext cx="420624" cy="420624"/>
          </a:xfrm>
          <a:prstGeom prst="ellipse">
            <a:avLst/>
          </a:prstGeom>
          <a:solidFill>
            <a:srgbClr val="D98E2E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80744" y="4215384"/>
            <a:ext cx="100702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50" b="1">
                <a:solidFill>
                  <a:srgbClr val="1E2A4D"/>
                </a:solidFill>
                <a:latin typeface="Cambria"/>
              </a:rPr>
              <a:t>Automated Error Handling</a:t>
            </a:r>
          </a:p>
        </p:txBody>
      </p:sp>
      <p:sp>
        <p:nvSpPr>
          <p:cNvPr id="20" name="Text 18"/>
          <p:cNvSpPr/>
          <p:nvPr/>
        </p:nvSpPr>
        <p:spPr>
          <a:xfrm>
            <a:off x="1380744" y="4507992"/>
            <a:ext cx="1007028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4B5563"/>
                </a:solidFill>
                <a:latin typeface="Calibri"/>
              </a:rPr>
              <a:t>We implemented detailed audit logging for missing files and wrote fallback logic to automatically calculate missing national averages from valid city data.</a:t>
            </a:r>
          </a:p>
        </p:txBody>
      </p:sp>
      <p:sp>
        <p:nvSpPr>
          <p:cNvPr id="21" name="Shape 19"/>
          <p:cNvSpPr/>
          <p:nvPr/>
        </p:nvSpPr>
        <p:spPr>
          <a:xfrm>
            <a:off x="502920" y="5294376"/>
            <a:ext cx="11185855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0664" y="5577840"/>
            <a:ext cx="420624" cy="420624"/>
          </a:xfrm>
          <a:prstGeom prst="ellipse">
            <a:avLst/>
          </a:prstGeom>
          <a:solidFill>
            <a:srgbClr val="D98E2E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" y="5577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80744" y="5385816"/>
            <a:ext cx="100702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25" name="Text 23"/>
          <p:cNvSpPr/>
          <p:nvPr/>
        </p:nvSpPr>
        <p:spPr>
          <a:xfrm>
            <a:off x="1380744" y="5678424"/>
            <a:ext cx="1007028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/>
        </p:txBody>
      </p:sp>
      <p:sp>
        <p:nvSpPr>
          <p:cNvPr id="26" name="Text 24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ForecastBI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>
                <a:solidFill>
                  <a:srgbClr val="D98E2E"/>
                </a:solidFill>
                <a:latin typeface="Calibri"/>
              </a:rPr>
              <a:t>STRATEGY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>
                <a:solidFill>
                  <a:srgbClr val="1E2A4D"/>
                </a:solidFill>
                <a:latin typeface="Cambria"/>
              </a:rPr>
              <a:t>Machine Learning &amp; Technical Approach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0">
                <a:solidFill>
                  <a:srgbClr val="4B5563"/>
                </a:solidFill>
                <a:latin typeface="Calibri"/>
              </a:rPr>
              <a:t>The data science techniques used to process the data and generate forecasts.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85855" cy="0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14600"/>
            <a:ext cx="3515258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770632"/>
            <a:ext cx="457200" cy="457200"/>
          </a:xfrm>
          <a:prstGeom prst="ellipse">
            <a:avLst/>
          </a:prstGeom>
          <a:solidFill>
            <a:srgbClr val="1E2A4D"/>
          </a:solidFill>
          <a:ln/>
        </p:spPr>
      </p:sp>
      <p:pic>
        <p:nvPicPr>
          <p:cNvPr id="8" name="Image 0" descr="/home/claude/icons/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87121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62456" y="2752344"/>
            <a:ext cx="2399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50" b="1">
                <a:solidFill>
                  <a:srgbClr val="1E2A4D"/>
                </a:solidFill>
                <a:latin typeface="Cambria"/>
              </a:rPr>
              <a:t>Feature Engineering</a:t>
            </a:r>
          </a:p>
        </p:txBody>
      </p:sp>
      <p:sp>
        <p:nvSpPr>
          <p:cNvPr id="10" name="Text 7"/>
          <p:cNvSpPr/>
          <p:nvPr/>
        </p:nvSpPr>
        <p:spPr>
          <a:xfrm>
            <a:off x="758952" y="3355848"/>
            <a:ext cx="300319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8952" y="3355848"/>
            <a:ext cx="30031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>
                <a:solidFill>
                  <a:srgbClr val="B23B3B"/>
                </a:solidFill>
                <a:latin typeface="Calibri"/>
              </a:rPr>
              <a:t>Dates &amp; Seasons</a:t>
            </a:r>
          </a:p>
        </p:txBody>
      </p:sp>
      <p:sp>
        <p:nvSpPr>
          <p:cNvPr id="12" name="Text 9"/>
          <p:cNvSpPr/>
          <p:nvPr/>
        </p:nvSpPr>
        <p:spPr>
          <a:xfrm>
            <a:off x="758952" y="3575304"/>
            <a:ext cx="30031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100">
                <a:solidFill>
                  <a:srgbClr val="4B5563"/>
                </a:solidFill>
                <a:latin typeface="Calibri"/>
              </a:rPr>
              <a:t>We transformed the raw dates into mathematical features (sine/cosine curves) so the models could understand yearly seasons.</a:t>
            </a:r>
          </a:p>
        </p:txBody>
      </p:sp>
      <p:sp>
        <p:nvSpPr>
          <p:cNvPr id="13" name="Text 10"/>
          <p:cNvSpPr/>
          <p:nvPr/>
        </p:nvSpPr>
        <p:spPr>
          <a:xfrm>
            <a:off x="758952" y="4379976"/>
            <a:ext cx="30031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>
                <a:solidFill>
                  <a:srgbClr val="1C7293"/>
                </a:solidFill>
                <a:latin typeface="Calibri"/>
              </a:rPr>
              <a:t>Lags &amp; Momentum</a:t>
            </a:r>
          </a:p>
        </p:txBody>
      </p:sp>
      <p:sp>
        <p:nvSpPr>
          <p:cNvPr id="14" name="Text 11"/>
          <p:cNvSpPr/>
          <p:nvPr/>
        </p:nvSpPr>
        <p:spPr>
          <a:xfrm>
            <a:off x="758952" y="4599432"/>
            <a:ext cx="300319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100">
                <a:solidFill>
                  <a:srgbClr val="4B5563"/>
                </a:solidFill>
                <a:latin typeface="Calibri"/>
              </a:rPr>
              <a:t>We added historical lag features (prices from 1, 3, and 6 months ago) and rolling averages.</a:t>
            </a:r>
          </a:p>
        </p:txBody>
      </p:sp>
      <p:sp>
        <p:nvSpPr>
          <p:cNvPr id="15" name="Shape 12"/>
          <p:cNvSpPr/>
          <p:nvPr/>
        </p:nvSpPr>
        <p:spPr>
          <a:xfrm>
            <a:off x="4338218" y="2514600"/>
            <a:ext cx="3515258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94250" y="2770632"/>
            <a:ext cx="457200" cy="457200"/>
          </a:xfrm>
          <a:prstGeom prst="ellipse">
            <a:avLst/>
          </a:prstGeom>
          <a:solidFill>
            <a:srgbClr val="1E2A4D"/>
          </a:solidFill>
          <a:ln/>
        </p:spPr>
      </p:sp>
      <p:pic>
        <p:nvPicPr>
          <p:cNvPr id="17" name="Image 1" descr="/home/claude/icons/filea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834" y="2871216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97754" y="2752344"/>
            <a:ext cx="2399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50" b="1">
                <a:solidFill>
                  <a:srgbClr val="1E2A4D"/>
                </a:solidFill>
                <a:latin typeface="Cambria"/>
              </a:rPr>
              <a:t>Model Selection</a:t>
            </a:r>
          </a:p>
        </p:txBody>
      </p:sp>
      <p:sp>
        <p:nvSpPr>
          <p:cNvPr id="19" name="Text 15"/>
          <p:cNvSpPr/>
          <p:nvPr/>
        </p:nvSpPr>
        <p:spPr>
          <a:xfrm>
            <a:off x="4594250" y="3355848"/>
            <a:ext cx="300319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594250" y="3355848"/>
            <a:ext cx="30031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>
                <a:solidFill>
                  <a:srgbClr val="B23B3B"/>
                </a:solidFill>
                <a:latin typeface="Calibri"/>
              </a:rPr>
              <a:t>Prophet vs. XGBoost</a:t>
            </a:r>
          </a:p>
        </p:txBody>
      </p:sp>
      <p:sp>
        <p:nvSpPr>
          <p:cNvPr id="21" name="Text 17"/>
          <p:cNvSpPr/>
          <p:nvPr/>
        </p:nvSpPr>
        <p:spPr>
          <a:xfrm>
            <a:off x="4594250" y="3575304"/>
            <a:ext cx="30031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100">
                <a:solidFill>
                  <a:srgbClr val="4B5563"/>
                </a:solidFill>
                <a:latin typeface="Calibri"/>
              </a:rPr>
              <a:t>We chose Facebook Prophet (great for seasonal trends) and XGBoost (great for complex, non-linear relationships) to compete against each other.</a:t>
            </a:r>
          </a:p>
        </p:txBody>
      </p:sp>
      <p:sp>
        <p:nvSpPr>
          <p:cNvPr id="22" name="Text 18"/>
          <p:cNvSpPr/>
          <p:nvPr/>
        </p:nvSpPr>
        <p:spPr>
          <a:xfrm>
            <a:off x="4594250" y="4379976"/>
            <a:ext cx="30031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23" name="Text 19"/>
          <p:cNvSpPr/>
          <p:nvPr/>
        </p:nvSpPr>
        <p:spPr>
          <a:xfrm>
            <a:off x="4594250" y="4599432"/>
            <a:ext cx="300319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/>
        </p:txBody>
      </p:sp>
      <p:sp>
        <p:nvSpPr>
          <p:cNvPr id="24" name="Shape 20"/>
          <p:cNvSpPr/>
          <p:nvPr/>
        </p:nvSpPr>
        <p:spPr>
          <a:xfrm>
            <a:off x="8173517" y="2514600"/>
            <a:ext cx="3515258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429549" y="2770632"/>
            <a:ext cx="457200" cy="457200"/>
          </a:xfrm>
          <a:prstGeom prst="ellipse">
            <a:avLst/>
          </a:prstGeom>
          <a:solidFill>
            <a:srgbClr val="1E2A4D"/>
          </a:solidFill>
          <a:ln/>
        </p:spPr>
      </p:sp>
      <p:pic>
        <p:nvPicPr>
          <p:cNvPr id="26" name="Image 2" descr="/home/claude/icons/triangleexc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133" y="2871216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033053" y="2752344"/>
            <a:ext cx="2399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50" b="1">
                <a:solidFill>
                  <a:srgbClr val="1E2A4D"/>
                </a:solidFill>
                <a:latin typeface="Cambria"/>
              </a:rPr>
              <a:t>Benchmarking Framework</a:t>
            </a:r>
          </a:p>
        </p:txBody>
      </p:sp>
      <p:sp>
        <p:nvSpPr>
          <p:cNvPr id="28" name="Text 23"/>
          <p:cNvSpPr/>
          <p:nvPr/>
        </p:nvSpPr>
        <p:spPr>
          <a:xfrm>
            <a:off x="8429549" y="3355848"/>
            <a:ext cx="300319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429549" y="3355848"/>
            <a:ext cx="30031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>
                <a:solidFill>
                  <a:srgbClr val="B23B3B"/>
                </a:solidFill>
                <a:latin typeface="Calibri"/>
              </a:rPr>
              <a:t>6-Month Holdout</a:t>
            </a:r>
          </a:p>
        </p:txBody>
      </p:sp>
      <p:sp>
        <p:nvSpPr>
          <p:cNvPr id="30" name="Text 25"/>
          <p:cNvSpPr/>
          <p:nvPr/>
        </p:nvSpPr>
        <p:spPr>
          <a:xfrm>
            <a:off x="8429549" y="3575304"/>
            <a:ext cx="30031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100">
                <a:solidFill>
                  <a:srgbClr val="4B5563"/>
                </a:solidFill>
                <a:latin typeface="Calibri"/>
              </a:rPr>
              <a:t>We trained the models on the first 35 months and tested them on the final 6 months.</a:t>
            </a:r>
          </a:p>
        </p:txBody>
      </p:sp>
      <p:sp>
        <p:nvSpPr>
          <p:cNvPr id="31" name="Text 26"/>
          <p:cNvSpPr/>
          <p:nvPr/>
        </p:nvSpPr>
        <p:spPr>
          <a:xfrm>
            <a:off x="8429549" y="4379976"/>
            <a:ext cx="30031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>
                <a:solidFill>
                  <a:srgbClr val="1C7293"/>
                </a:solidFill>
                <a:latin typeface="Calibri"/>
              </a:rPr>
              <a:t>Evaluation Metric</a:t>
            </a:r>
          </a:p>
        </p:txBody>
      </p:sp>
      <p:sp>
        <p:nvSpPr>
          <p:cNvPr id="32" name="Text 27"/>
          <p:cNvSpPr/>
          <p:nvPr/>
        </p:nvSpPr>
        <p:spPr>
          <a:xfrm>
            <a:off x="8429549" y="4599432"/>
            <a:ext cx="300319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100">
                <a:solidFill>
                  <a:srgbClr val="4B5563"/>
                </a:solidFill>
                <a:latin typeface="Calibri"/>
              </a:rPr>
              <a:t>We used MAPE (Mean Absolute Percentage Error) to determine the winner for each commodity.</a:t>
            </a:r>
          </a:p>
        </p:txBody>
      </p:sp>
      <p:sp>
        <p:nvSpPr>
          <p:cNvPr id="33" name="Text 28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ForecastBI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>
                <a:solidFill>
                  <a:srgbClr val="D98E2E"/>
                </a:solidFill>
                <a:latin typeface="Calibri"/>
              </a:rPr>
              <a:t>IMPLEMENTATION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>
                <a:solidFill>
                  <a:srgbClr val="1E2A4D"/>
                </a:solidFill>
                <a:latin typeface="Cambria"/>
              </a:rPr>
              <a:t>Bringing It All Together in Power BI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0">
                <a:solidFill>
                  <a:srgbClr val="4B5563"/>
                </a:solidFill>
                <a:latin typeface="Calibri"/>
              </a:rPr>
              <a:t>Connecting the Python backend to a front-end visualization layer.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85855" cy="0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11185855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0664" y="2235708"/>
            <a:ext cx="420624" cy="420624"/>
          </a:xfrm>
          <a:prstGeom prst="ellipse">
            <a:avLst/>
          </a:prstGeom>
          <a:solidFill>
            <a:srgbClr val="D98E2E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22357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80744" y="1874520"/>
            <a:ext cx="100702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50" b="1">
                <a:solidFill>
                  <a:srgbClr val="1E2A4D"/>
                </a:solidFill>
                <a:latin typeface="Cambria"/>
              </a:rPr>
              <a:t>Data Export &amp; Star Schema</a:t>
            </a:r>
          </a:p>
        </p:txBody>
      </p:sp>
      <p:sp>
        <p:nvSpPr>
          <p:cNvPr id="10" name="Text 8"/>
          <p:cNvSpPr/>
          <p:nvPr/>
        </p:nvSpPr>
        <p:spPr>
          <a:xfrm>
            <a:off x="1380744" y="2167128"/>
            <a:ext cx="1007028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4B5563"/>
                </a:solidFill>
                <a:latin typeface="Calibri"/>
              </a:rPr>
              <a:t>The Python pipeline exports the cleaned data and predictions as standardized CSV files. We structured these files in a relational format optimized for Power BI.</a:t>
            </a:r>
          </a:p>
        </p:txBody>
      </p:sp>
      <p:sp>
        <p:nvSpPr>
          <p:cNvPr id="11" name="Shape 9"/>
          <p:cNvSpPr/>
          <p:nvPr/>
        </p:nvSpPr>
        <p:spPr>
          <a:xfrm>
            <a:off x="502920" y="3310128"/>
            <a:ext cx="11185855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0664" y="3762756"/>
            <a:ext cx="420624" cy="420624"/>
          </a:xfrm>
          <a:prstGeom prst="ellipse">
            <a:avLst/>
          </a:prstGeom>
          <a:solidFill>
            <a:srgbClr val="D98E2E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" y="37627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80744" y="3401568"/>
            <a:ext cx="100702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50" b="1">
                <a:solidFill>
                  <a:srgbClr val="1E2A4D"/>
                </a:solidFill>
                <a:latin typeface="Cambria"/>
              </a:rPr>
              <a:t>Dashboard Construction</a:t>
            </a:r>
          </a:p>
        </p:txBody>
      </p:sp>
      <p:sp>
        <p:nvSpPr>
          <p:cNvPr id="15" name="Text 13"/>
          <p:cNvSpPr/>
          <p:nvPr/>
        </p:nvSpPr>
        <p:spPr>
          <a:xfrm>
            <a:off x="1380744" y="3694176"/>
            <a:ext cx="1007028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4B5563"/>
                </a:solidFill>
                <a:latin typeface="Calibri"/>
              </a:rPr>
              <a:t>We built a 3-page interactive report using a custom dark theme JSON file. The dashboard automatically reads the Python outputs to update its visuals.</a:t>
            </a:r>
          </a:p>
        </p:txBody>
      </p:sp>
      <p:sp>
        <p:nvSpPr>
          <p:cNvPr id="16" name="Shape 14"/>
          <p:cNvSpPr/>
          <p:nvPr/>
        </p:nvSpPr>
        <p:spPr>
          <a:xfrm>
            <a:off x="502920" y="4837176"/>
            <a:ext cx="11185855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0664" y="5289804"/>
            <a:ext cx="420624" cy="420624"/>
          </a:xfrm>
          <a:prstGeom prst="ellipse">
            <a:avLst/>
          </a:prstGeom>
          <a:solidFill>
            <a:srgbClr val="D98E2E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" y="52898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80744" y="4928616"/>
            <a:ext cx="100702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50" b="1">
                <a:solidFill>
                  <a:srgbClr val="1E2A4D"/>
                </a:solidFill>
                <a:latin typeface="Cambria"/>
              </a:rPr>
              <a:t>Visual Analytics</a:t>
            </a:r>
          </a:p>
        </p:txBody>
      </p:sp>
      <p:sp>
        <p:nvSpPr>
          <p:cNvPr id="20" name="Text 18"/>
          <p:cNvSpPr/>
          <p:nvPr/>
        </p:nvSpPr>
        <p:spPr>
          <a:xfrm>
            <a:off x="1380744" y="5221224"/>
            <a:ext cx="1007028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4B5563"/>
                </a:solidFill>
                <a:latin typeface="Calibri"/>
              </a:rPr>
              <a:t>The final dashboards feature interactive slicers, allowing users to explore historical trends, view future forecasts, and compare model accuracy dynamically.</a:t>
            </a:r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ForecastBI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>
                <a:solidFill>
                  <a:srgbClr val="D98E2E"/>
                </a:solidFill>
                <a:latin typeface="Calibri"/>
              </a:rPr>
              <a:t>RESULTS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>
                <a:solidFill>
                  <a:srgbClr val="1E2A4D"/>
                </a:solidFill>
                <a:latin typeface="Cambria"/>
              </a:rPr>
              <a:t>Model Performance &amp; Findings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0">
                <a:solidFill>
                  <a:srgbClr val="4B5563"/>
                </a:solidFill>
                <a:latin typeface="Calibri"/>
              </a:rPr>
              <a:t>The results of our 6-month machine learning backtest.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85855" cy="0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6492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1984248"/>
            <a:ext cx="598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 b="1">
                <a:solidFill>
                  <a:srgbClr val="1E2A4D"/>
                </a:solidFill>
                <a:latin typeface="Cambria"/>
              </a:rPr>
              <a:t>Model Accuracy Scores (100 - MAPE)</a:t>
            </a:r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2331720"/>
          <a:ext cx="62179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315200" y="1783080"/>
            <a:ext cx="4373575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571232" y="2039112"/>
            <a:ext cx="457200" cy="457200"/>
          </a:xfrm>
          <a:prstGeom prst="ellipse">
            <a:avLst/>
          </a:prstGeom>
          <a:solidFill>
            <a:srgbClr val="1E2A4D"/>
          </a:solidFill>
          <a:ln/>
        </p:spPr>
      </p:sp>
      <p:pic>
        <p:nvPicPr>
          <p:cNvPr id="11" name="Image 0" descr="/home/claude/icons/lightbul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816" y="21396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74736" y="2020824"/>
            <a:ext cx="3258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50" b="1">
                <a:solidFill>
                  <a:srgbClr val="D98E2E"/>
                </a:solidFill>
                <a:latin typeface="Cambria"/>
              </a:rPr>
              <a:t>Key Insight: The Potato Anomaly</a:t>
            </a:r>
          </a:p>
        </p:txBody>
      </p:sp>
      <p:sp>
        <p:nvSpPr>
          <p:cNvPr id="13" name="Text 9"/>
          <p:cNvSpPr/>
          <p:nvPr/>
        </p:nvSpPr>
        <p:spPr>
          <a:xfrm>
            <a:off x="7571232" y="2624328"/>
            <a:ext cx="3861511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 i="1">
                <a:solidFill>
                  <a:srgbClr val="4B5563"/>
                </a:solidFill>
                <a:latin typeface="Calibri"/>
              </a:rPr>
              <a:t>XGBoost Dominated Pulses</a:t>
            </a:r>
          </a:p>
          <a:p>
            <a:r>
              <a:rPr sz="1200" i="1">
                <a:solidFill>
                  <a:srgbClr val="4B5563"/>
                </a:solidFill>
                <a:latin typeface="Calibri"/>
              </a:rPr>
              <a:t>XGBoost won consistently on stable commodities like Pulses, achieving up to 98% accuracy because it effectively captured recent price momentum.</a:t>
            </a:r>
          </a:p>
          <a:p/>
          <a:p>
            <a:r>
              <a:rPr sz="1200" i="1">
                <a:solidFill>
                  <a:srgbClr val="4B5563"/>
                </a:solidFill>
                <a:latin typeface="Calibri"/>
              </a:rPr>
              <a:t>The Potato Anomaly</a:t>
            </a:r>
          </a:p>
          <a:p>
            <a:r>
              <a:rPr sz="1200" i="1">
                <a:solidFill>
                  <a:srgbClr val="4B5563"/>
                </a:solidFill>
                <a:latin typeface="Calibri"/>
              </a:rPr>
              <a:t>When potato prices crashed from Rs 115 to Rs 31, XGBoost's predictions compounded errors and failed completely (-28% accuracy).</a:t>
            </a:r>
          </a:p>
          <a:p>
            <a:r>
              <a:rPr sz="1200" i="1">
                <a:solidFill>
                  <a:srgbClr val="4B5563"/>
                </a:solidFill>
                <a:latin typeface="Calibri"/>
              </a:rPr>
              <a:t>Facebook Prophet succeeded here (69% accuracy) because its math is built on yearly sine waves, perfectly capturing the natural harvest cycle.</a:t>
            </a:r>
          </a:p>
          <a:p/>
          <a:p>
            <a:r>
              <a:rPr sz="1200" i="1">
                <a:solidFill>
                  <a:srgbClr val="4B5563"/>
                </a:solidFill>
                <a:latin typeface="Calibri"/>
              </a:rPr>
              <a:t>Conclusion: We proved that dynamic model routing (using different models for different items) was required for this project.</a:t>
            </a:r>
          </a:p>
        </p:txBody>
      </p:sp>
      <p:sp>
        <p:nvSpPr>
          <p:cNvPr id="14" name="Text 10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ForecastBI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>
                <a:solidFill>
                  <a:srgbClr val="D98E2E"/>
                </a:solidFill>
                <a:latin typeface="Calibri"/>
              </a:rPr>
              <a:t>CONCLUSION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>
                <a:solidFill>
                  <a:srgbClr val="FFFFFF"/>
                </a:solidFill>
                <a:latin typeface="Cambria"/>
              </a:rPr>
              <a:t>Project Wrap-Up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0">
                <a:solidFill>
                  <a:srgbClr val="C9D2E3"/>
                </a:solidFill>
                <a:latin typeface="Calibri"/>
              </a:rPr>
              <a:t>Successfully demonstrating a full-stack data science workflow.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85855" cy="0"/>
          </a:xfrm>
          <a:prstGeom prst="line">
            <a:avLst/>
          </a:prstGeom>
          <a:noFill/>
          <a:ln w="12700">
            <a:solidFill>
              <a:srgbClr val="3440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743200"/>
            <a:ext cx="3515258" cy="2606040"/>
          </a:xfrm>
          <a:prstGeom prst="roundRect">
            <a:avLst>
              <a:gd name="adj" fmla="val 4211"/>
            </a:avLst>
          </a:prstGeom>
          <a:solidFill>
            <a:srgbClr val="1F2C4E"/>
          </a:solidFill>
          <a:ln w="12700">
            <a:solidFill>
              <a:srgbClr val="2B3A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2999232"/>
            <a:ext cx="457200" cy="457200"/>
          </a:xfrm>
          <a:prstGeom prst="ellipse">
            <a:avLst/>
          </a:prstGeom>
          <a:solidFill>
            <a:srgbClr val="D98E2E"/>
          </a:solidFill>
          <a:ln/>
        </p:spPr>
      </p:sp>
      <p:pic>
        <p:nvPicPr>
          <p:cNvPr id="8" name="Image 0" descr="/home/claude/icons/chart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309981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62456" y="2980944"/>
            <a:ext cx="2399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50" b="1">
                <a:solidFill>
                  <a:srgbClr val="FFFFFF"/>
                </a:solidFill>
                <a:latin typeface="Cambria"/>
              </a:rPr>
              <a:t>Pipeline Success</a:t>
            </a:r>
          </a:p>
        </p:txBody>
      </p:sp>
      <p:sp>
        <p:nvSpPr>
          <p:cNvPr id="10" name="Text 7"/>
          <p:cNvSpPr/>
          <p:nvPr/>
        </p:nvSpPr>
        <p:spPr>
          <a:xfrm>
            <a:off x="758952" y="3584448"/>
            <a:ext cx="300319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C9D2E3"/>
                </a:solidFill>
                <a:latin typeface="Calibri"/>
              </a:rPr>
              <a:t>We successfully automated the extraction and cleaning of highly unstructured government data, replacing manual labor with a robust Python pipeline.</a:t>
            </a:r>
          </a:p>
        </p:txBody>
      </p:sp>
      <p:sp>
        <p:nvSpPr>
          <p:cNvPr id="11" name="Shape 8"/>
          <p:cNvSpPr/>
          <p:nvPr/>
        </p:nvSpPr>
        <p:spPr>
          <a:xfrm>
            <a:off x="4338218" y="2743200"/>
            <a:ext cx="3515258" cy="2606040"/>
          </a:xfrm>
          <a:prstGeom prst="roundRect">
            <a:avLst>
              <a:gd name="adj" fmla="val 4211"/>
            </a:avLst>
          </a:prstGeom>
          <a:solidFill>
            <a:srgbClr val="1F2C4E"/>
          </a:solidFill>
          <a:ln w="12700">
            <a:solidFill>
              <a:srgbClr val="2B3A6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94250" y="2999232"/>
            <a:ext cx="457200" cy="457200"/>
          </a:xfrm>
          <a:prstGeom prst="ellipse">
            <a:avLst/>
          </a:prstGeom>
          <a:solidFill>
            <a:srgbClr val="D98E2E"/>
          </a:solidFill>
          <a:ln/>
        </p:spPr>
      </p:sp>
      <p:pic>
        <p:nvPicPr>
          <p:cNvPr id="13" name="Image 1" descr="/home/claude/icons/c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834" y="309981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7754" y="2980944"/>
            <a:ext cx="2399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50" b="1">
                <a:solidFill>
                  <a:srgbClr val="FFFFFF"/>
                </a:solidFill>
                <a:latin typeface="Cambria"/>
              </a:rPr>
              <a:t>ML Validation</a:t>
            </a:r>
          </a:p>
        </p:txBody>
      </p:sp>
      <p:sp>
        <p:nvSpPr>
          <p:cNvPr id="15" name="Text 11"/>
          <p:cNvSpPr/>
          <p:nvPr/>
        </p:nvSpPr>
        <p:spPr>
          <a:xfrm>
            <a:off x="4594250" y="3584448"/>
            <a:ext cx="300319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C9D2E3"/>
                </a:solidFill>
                <a:latin typeface="Calibri"/>
              </a:rPr>
              <a:t>We proved the value of evaluating multiple algorithms. Relying on just one model would have caused massive errors in highly volatile vegetables.</a:t>
            </a:r>
          </a:p>
        </p:txBody>
      </p:sp>
      <p:sp>
        <p:nvSpPr>
          <p:cNvPr id="16" name="Shape 12"/>
          <p:cNvSpPr/>
          <p:nvPr/>
        </p:nvSpPr>
        <p:spPr>
          <a:xfrm>
            <a:off x="8173517" y="2743200"/>
            <a:ext cx="3515258" cy="2606040"/>
          </a:xfrm>
          <a:prstGeom prst="roundRect">
            <a:avLst>
              <a:gd name="adj" fmla="val 4211"/>
            </a:avLst>
          </a:prstGeom>
          <a:solidFill>
            <a:srgbClr val="1F2C4E"/>
          </a:solidFill>
          <a:ln w="12700">
            <a:solidFill>
              <a:srgbClr val="2B3A6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29549" y="2999232"/>
            <a:ext cx="457200" cy="457200"/>
          </a:xfrm>
          <a:prstGeom prst="ellipse">
            <a:avLst/>
          </a:prstGeom>
          <a:solidFill>
            <a:srgbClr val="D98E2E"/>
          </a:solidFill>
          <a:ln/>
        </p:spPr>
      </p:sp>
      <p:pic>
        <p:nvPicPr>
          <p:cNvPr id="18" name="Image 2" descr="/home/claude/icons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133" y="309981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33053" y="2980944"/>
            <a:ext cx="2399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50" b="1">
                <a:solidFill>
                  <a:srgbClr val="FFFFFF"/>
                </a:solidFill>
                <a:latin typeface="Cambria"/>
              </a:rPr>
              <a:t>Next Steps / Enhancements</a:t>
            </a:r>
          </a:p>
        </p:txBody>
      </p:sp>
      <p:sp>
        <p:nvSpPr>
          <p:cNvPr id="20" name="Text 15"/>
          <p:cNvSpPr/>
          <p:nvPr/>
        </p:nvSpPr>
        <p:spPr>
          <a:xfrm>
            <a:off x="8429549" y="3584448"/>
            <a:ext cx="300319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C9D2E3"/>
                </a:solidFill>
                <a:latin typeface="Calibri"/>
              </a:rPr>
              <a:t>• Migrate the scraping pipeline to run automatically in the cloud.</a:t>
            </a:r>
          </a:p>
          <a:p>
            <a:r>
              <a:rPr sz="1200">
                <a:solidFill>
                  <a:srgbClr val="C9D2E3"/>
                </a:solidFill>
                <a:latin typeface="Calibri"/>
              </a:rPr>
              <a:t>• Add weather and transportation cost data to the feature matrix.</a:t>
            </a:r>
          </a:p>
          <a:p>
            <a:r>
              <a:rPr sz="1200">
                <a:solidFill>
                  <a:srgbClr val="C9D2E3"/>
                </a:solidFill>
                <a:latin typeface="Calibri"/>
              </a:rPr>
              <a:t>• Integrate the Power BI dashboard with a live database.</a:t>
            </a:r>
          </a:p>
        </p:txBody>
      </p:sp>
      <p:sp>
        <p:nvSpPr>
          <p:cNvPr id="21" name="Text 16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ForecastBI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2026-09-05T21:13:43Z</dcterms:created>
  <dcterms:modified xsi:type="dcterms:W3CDTF">2026-09-05T21:13:43Z</dcterms:modified>
</cp:coreProperties>
</file>